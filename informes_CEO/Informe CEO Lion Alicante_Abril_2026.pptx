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uXabR7jF633G5+UaB5/iesjlS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CDDE8F-9A11-4C67-94BB-A785A3355D4A}">
  <a:tblStyle styleId="{3CCDDE8F-9A11-4C67-94BB-A785A3355D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571500" y="428625"/>
            <a:ext cx="1605558" cy="250031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9A84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71500" y="428625"/>
            <a:ext cx="1605558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70050" spcFirstLastPara="1" rIns="170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CEO · CONFIDENCIAL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71500" y="1285875"/>
            <a:ext cx="80010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9"/>
              <a:buFont typeface="Inter"/>
              <a:buNone/>
            </a:pPr>
            <a:r>
              <a:rPr b="0" i="0" lang="en-US" sz="126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LION CAPITAL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71500" y="1635919"/>
            <a:ext cx="8001000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6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4"/>
              <a:buFont typeface="Inter"/>
              <a:buNone/>
            </a:pPr>
            <a:r>
              <a:rPr b="1" i="0" lang="en-US" sz="466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INFORME</a:t>
            </a:r>
            <a:endParaRPr b="0" i="0" sz="4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71500" y="2214563"/>
            <a:ext cx="8001000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6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4"/>
              <a:buFont typeface="Inter"/>
              <a:buNone/>
            </a:pPr>
            <a:r>
              <a:rPr b="1" i="0" lang="en-US" sz="466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FINANCIERO</a:t>
            </a:r>
            <a:endParaRPr b="0" i="0" sz="4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71500" y="2793206"/>
            <a:ext cx="8001000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627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664"/>
              <a:buFont typeface="Inter"/>
              <a:buNone/>
            </a:pPr>
            <a:r>
              <a:rPr b="1" i="0" lang="en-US" sz="4664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MENSUAL</a:t>
            </a:r>
            <a:endParaRPr b="0" i="0" sz="4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8675" y="3514725"/>
            <a:ext cx="183415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SEDE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8675" y="3705820"/>
            <a:ext cx="183415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4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77"/>
              <a:buFont typeface="Inter"/>
              <a:buNone/>
            </a:pPr>
            <a:r>
              <a:rPr b="1" i="0" lang="en-US" sz="3077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Alicante</a:t>
            </a:r>
            <a:endParaRPr b="0" i="0" sz="30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71500" y="4277320"/>
            <a:ext cx="80010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9"/>
              <a:buFont typeface="Inter"/>
              <a:buNone/>
            </a:pPr>
            <a:r>
              <a:rPr b="0" i="0" lang="en-US" sz="126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Informe de Resultados · </a:t>
            </a:r>
            <a:r>
              <a:rPr lang="en-US" sz="12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Abril </a:t>
            </a:r>
            <a:r>
              <a:rPr b="0" i="0" lang="en-US" sz="126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71500" y="4602361"/>
            <a:ext cx="8001000" cy="25538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71500" y="4602361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71500" y="4752380"/>
            <a:ext cx="1603772" cy="105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Inter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Lion Capital Real Estate · Sede Alicante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929313" y="4752380"/>
            <a:ext cx="2643188" cy="105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Inter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Preparado por: Dpto. Financiero · Uso interno · Dirección General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365760"/>
            <a:ext cx="2976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SEDE ALICANTE· RESUMEN DE KPIS CLAVE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550075"/>
            <a:ext cx="48417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DASHBOARD EJECUTIVO: </a:t>
            </a:r>
            <a:r>
              <a:rPr b="1"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ABRIL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1188720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2651760" y="13258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640080" y="1325880"/>
            <a:ext cx="164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PRODUCCIÓN (RESERVAS)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75" y="1600200"/>
            <a:ext cx="208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160.984,62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1" i="0" sz="2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2240280"/>
            <a:ext cx="2262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Pagas y Señales (Venta + Alquiler)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91840" y="1188720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5486400" y="13269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3474720" y="1325880"/>
            <a:ext cx="15546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CIERRE (CONTRATOS FIRMADOS)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474726" y="160020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218.989,62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1" i="0" sz="2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474725" y="1965950"/>
            <a:ext cx="17787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 167,31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 vs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mes anterior</a:t>
            </a:r>
            <a:endParaRPr b="0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474720" y="2240280"/>
            <a:ext cx="2262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Contratos de Arras y Alquileres Firmados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126480" y="1188720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6">
            <a:alphaModFix amt="50000"/>
          </a:blip>
          <a:srcRect b="0" l="0" r="0" t="0"/>
          <a:stretch/>
        </p:blipFill>
        <p:spPr>
          <a:xfrm>
            <a:off x="8443885" y="1326952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6309360" y="1325880"/>
            <a:ext cx="118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FACTURACIÓN REAL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309349" y="1600200"/>
            <a:ext cx="192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</a:pPr>
            <a:r>
              <a:rPr b="1" lang="en-US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157.952,82</a:t>
            </a:r>
            <a:r>
              <a:rPr b="1" i="0" lang="en-US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1" i="0" sz="2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309347" y="1965951"/>
            <a:ext cx="16899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164,69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 vs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mes anterior</a:t>
            </a:r>
            <a:endParaRPr b="0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309360" y="2240280"/>
            <a:ext cx="2262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Ingresos Contables Totales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2743200"/>
            <a:ext cx="2560200" cy="914400"/>
          </a:xfrm>
          <a:prstGeom prst="rect">
            <a:avLst/>
          </a:prstGeom>
          <a:solidFill>
            <a:srgbClr val="0B1F4B">
              <a:alpha val="50196"/>
            </a:srgbClr>
          </a:solidFill>
          <a:ln cap="flat" cmpd="sng" w="9525">
            <a:solidFill>
              <a:srgbClr val="C9A84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40080" y="2926080"/>
            <a:ext cx="1778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EBITDA OPERATIVO (SIN EXTRAS)</a:t>
            </a:r>
            <a:endParaRPr b="1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0075" y="3200400"/>
            <a:ext cx="14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54.424,40</a:t>
            </a: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377440" y="3337560"/>
            <a:ext cx="457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+34,46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291840" y="2743200"/>
            <a:ext cx="2560200" cy="914400"/>
          </a:xfrm>
          <a:prstGeom prst="rect">
            <a:avLst/>
          </a:prstGeom>
          <a:solidFill>
            <a:srgbClr val="4ADE80">
              <a:alpha val="5098"/>
            </a:srgbClr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474720" y="2926080"/>
            <a:ext cx="1689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EBITDA NETO (CON EXTRAS)</a:t>
            </a:r>
            <a:endParaRPr b="1" i="0" sz="7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474725" y="3200400"/>
            <a:ext cx="144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400"/>
              <a:buFont typeface="Inter"/>
              <a:buNone/>
            </a:pPr>
            <a:r>
              <a:rPr b="1" lang="en-US" sz="1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54.424,40</a:t>
            </a:r>
            <a:r>
              <a:rPr b="1" i="0" lang="en-US" sz="1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212080" y="3337560"/>
            <a:ext cx="457200" cy="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+34,46</a:t>
            </a:r>
            <a:r>
              <a:rPr b="0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126480" y="2743200"/>
            <a:ext cx="2560200" cy="914400"/>
          </a:xfrm>
          <a:prstGeom prst="rect">
            <a:avLst/>
          </a:prstGeom>
          <a:solidFill>
            <a:srgbClr val="0B1F4B">
              <a:alpha val="50196"/>
            </a:srgbClr>
          </a:solidFill>
          <a:ln cap="flat" cmpd="sng" w="9525">
            <a:solidFill>
              <a:srgbClr val="C9A84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309360" y="2926080"/>
            <a:ext cx="2205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PIPELINE + COBROS (VISIBILIDAD Q</a:t>
            </a:r>
            <a:r>
              <a:rPr b="1" lang="en-US" sz="7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1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309348" y="3154675"/>
            <a:ext cx="14481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lang="en-U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150.109,25</a:t>
            </a: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1" i="0" sz="16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309360" y="3429000"/>
            <a:ext cx="2395800" cy="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59.989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Pendientes Firma + 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90.120,25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Pendiente Cobro</a:t>
            </a:r>
            <a:endParaRPr b="0" i="0" sz="7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40080" y="1965960"/>
            <a:ext cx="1828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13,77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 vs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mes anterior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365760"/>
            <a:ext cx="3524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COMPARATIVA DE KPIS CLAVE VS. MES ANTERIOR Y AÑO ANTERIOR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550075"/>
            <a:ext cx="5998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ANÁLISIS DE PRODUCCIÓN: EVOLUCIÓN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HISTÓRICA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" y="1234440"/>
            <a:ext cx="2560200" cy="1188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57200" y="1225296"/>
            <a:ext cx="2560200" cy="28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57200" y="1462075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RESERVAS (VENTA Y ALQUILER)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1689508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160.984,62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2148840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Operaciones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2560320"/>
            <a:ext cx="2560200" cy="5466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94360" y="2696880"/>
            <a:ext cx="11190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MES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'26)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94348" y="2834650"/>
            <a:ext cx="9531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141.503,55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103120" y="2743229"/>
            <a:ext cx="731400" cy="178500"/>
          </a:xfrm>
          <a:prstGeom prst="rect">
            <a:avLst/>
          </a:prstGeom>
          <a:solidFill>
            <a:srgbClr val="4ADE80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13,77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291840" y="1234440"/>
            <a:ext cx="2560200" cy="1188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291840" y="1225296"/>
            <a:ext cx="2560200" cy="28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291840" y="1462075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ARRAS Y CONTRATOS ALQUILER FDOS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291840" y="16916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218.989,62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291840" y="2148840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Operaciones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291840" y="2560320"/>
            <a:ext cx="2560200" cy="5466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F871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429000" y="2697480"/>
            <a:ext cx="1197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MES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'26)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429000" y="2834640"/>
            <a:ext cx="8160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81.923,55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937760" y="2743200"/>
            <a:ext cx="731400" cy="178500"/>
          </a:xfrm>
          <a:prstGeom prst="rect">
            <a:avLst/>
          </a:prstGeom>
          <a:solidFill>
            <a:srgbClr val="4ADE80">
              <a:alpha val="102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164,69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1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126480" y="1234440"/>
            <a:ext cx="2560200" cy="1188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126480" y="1225296"/>
            <a:ext cx="2560200" cy="28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126480" y="1463040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TICKET MEDIO (VENTAS)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126480" y="16916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16.845,36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126480" y="2148840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Honorarios por Op.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126480" y="2560320"/>
            <a:ext cx="2571900" cy="5466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263640" y="2696880"/>
            <a:ext cx="11190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MES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'26)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263654" y="2834650"/>
            <a:ext cx="81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11.703,36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772400" y="2743200"/>
            <a:ext cx="731400" cy="178500"/>
          </a:xfrm>
          <a:prstGeom prst="rect">
            <a:avLst/>
          </a:prstGeom>
          <a:solidFill>
            <a:srgbClr val="4ADE80">
              <a:alpha val="51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43,94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2000" u="none" cap="none" strike="noStrike">
              <a:solidFill>
                <a:srgbClr val="4ADE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94350" y="3200500"/>
            <a:ext cx="8092200" cy="17808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r>
              <a:rPr lang="en-US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 Ejecutiva</a:t>
            </a:r>
            <a:endParaRPr sz="1100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sede de Alicante consolida un cambio de tendencia estructural, logrando un incremento de facturación del 164,69% respecto al mes anterior. Este salto cuantitativo viene respaldado por una notable mejora en el ticket medio (+43,94%), lo que confirma que el posicionamiento de marca y nuestra ubicación están atrayendo a un perfil de cliente de mayor poder adquisitivo.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nivel de viabilidad, la sede cumple con holgura la excelencia corporativa superando el 30% de rentabilidad neta. Además, la calidad de la cartera es óptima: el 100% de las arras formalizadas son firmes (no condicionadas), garantizando certidumbre y minimizando el riesgo operativo.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457200" y="1147270"/>
            <a:ext cx="5166300" cy="35676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57200" y="365760"/>
            <a:ext cx="1725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ACTIVIDAD COMERCIAL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" y="548640"/>
            <a:ext cx="759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CRECIMIENTO EN SEÑALES Y CONSOLIDACIÓN DEL TICKET MEDIO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ABRIL </a:t>
            </a: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48640" y="1188720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MÉTRICA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514600" y="118872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lang="en-US" sz="7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. 2026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566160" y="118872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lang="en-US" sz="7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ABR</a:t>
            </a: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. 2026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617720" y="118872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VARIACIÓN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1463040"/>
            <a:ext cx="128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Señalizaciones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48640" y="1645920"/>
            <a:ext cx="12339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(Venta + Alquiler)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418050" y="1463050"/>
            <a:ext cx="736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141.503,55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514600" y="16459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469549" y="1463050"/>
            <a:ext cx="736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160.984,62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566160" y="16459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617720" y="146304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13,77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%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48640" y="1920240"/>
            <a:ext cx="128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Arras Firmadas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418000" y="1920250"/>
            <a:ext cx="736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81.923,55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514600" y="21031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541487" y="1920250"/>
            <a:ext cx="66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218.989,62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566160" y="21031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617720" y="192024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164,69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%</a:t>
            </a:r>
            <a:endParaRPr b="0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48640" y="23774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Contratos de Alquiler Firmados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514600" y="237744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€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514600" y="25603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566160" y="237744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€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566160" y="25603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48660" y="2924230"/>
            <a:ext cx="2377500" cy="9144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4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9125" y="1359125"/>
            <a:ext cx="3584876" cy="22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/>
          <p:nvPr/>
        </p:nvSpPr>
        <p:spPr>
          <a:xfrm>
            <a:off x="685820" y="3061390"/>
            <a:ext cx="16440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PIPELINE PENDIENTE (VENTA)</a:t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31540" y="3289990"/>
            <a:ext cx="116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59.989,00</a:t>
            </a: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85820" y="3610030"/>
            <a:ext cx="1487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operaciones · Visibilidad Q1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154810" y="2924230"/>
            <a:ext cx="2377500" cy="9144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291970" y="3061390"/>
            <a:ext cx="1394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COBROS PENDIENTES</a:t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337690" y="3289990"/>
            <a:ext cx="10059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90.120,25</a:t>
            </a: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291970" y="3610030"/>
            <a:ext cx="11979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Gestión activa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48650" y="3838625"/>
            <a:ext cx="8137800" cy="11427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Evaluación Ejecutiva</a:t>
            </a:r>
            <a:endParaRPr sz="1100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importe de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reservas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obtenido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crece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pesar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haberse realizado 5 operaciones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menos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 marzo . Esto implica un ticket medio considerablemente más alto. A su vez, el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arras firmadas cambia radicalmente. En arras pendientes de firmar quedan 59.989€ que se cerrarán a corto plazo.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 otro lado se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encuentran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pendientes de cobro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90.120,25€  por 3 operaciones.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/>
          <p:nvPr/>
        </p:nvSpPr>
        <p:spPr>
          <a:xfrm>
            <a:off x="457200" y="365760"/>
            <a:ext cx="3333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LISTADO COMPLETO DE OPERACIONES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57200" y="548640"/>
            <a:ext cx="4592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PIPELINE DETALLADO: OPERACIONES EN CURSO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65760" y="914400"/>
            <a:ext cx="2011800" cy="40233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65760" y="905256"/>
            <a:ext cx="2011800" cy="273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05840"/>
            <a:ext cx="87511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/>
          <p:nvPr/>
        </p:nvSpPr>
        <p:spPr>
          <a:xfrm>
            <a:off x="594360" y="1005840"/>
            <a:ext cx="16734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PENDIENTES ARRAS </a:t>
            </a:r>
            <a:endParaRPr b="1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" y="320040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691640" y="320040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514600" y="913025"/>
            <a:ext cx="2011800" cy="40233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7200" y="338328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691640" y="338328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2514600" y="905256"/>
            <a:ext cx="2011800" cy="285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6040" y="1005840"/>
            <a:ext cx="87511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/>
          <p:nvPr/>
        </p:nvSpPr>
        <p:spPr>
          <a:xfrm>
            <a:off x="2743200" y="1001294"/>
            <a:ext cx="1865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</a:pPr>
            <a:r>
              <a:rPr b="1" lang="en-US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PENDIENTES ALQUILER</a:t>
            </a:r>
            <a:endParaRPr b="1"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57200" y="3562244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689595" y="3562244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7200" y="374904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689595" y="374904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57200" y="393192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689595" y="393192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57200" y="411480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689595" y="411480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57200" y="429768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1689595" y="429768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57200" y="448056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691640" y="448056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2606040" y="173736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840480" y="173736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663428" y="914400"/>
            <a:ext cx="2011800" cy="40233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663440" y="905256"/>
            <a:ext cx="2011800" cy="285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1005840"/>
            <a:ext cx="91440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/>
          <p:nvPr/>
        </p:nvSpPr>
        <p:spPr>
          <a:xfrm>
            <a:off x="4892040" y="1005840"/>
            <a:ext cx="13248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ARRAS CONDICIONADAS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754880" y="173736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5989320" y="173736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754880" y="210312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5989320" y="210312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754880" y="228600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5989290" y="228600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754880" y="246888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989290" y="246888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754880" y="265176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989290" y="265176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754880" y="283464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989290" y="283464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754880" y="301752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989615" y="301752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6812275" y="914400"/>
            <a:ext cx="2011800" cy="40233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812280" y="905256"/>
            <a:ext cx="2011800" cy="285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949440" y="1005840"/>
            <a:ext cx="12288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PENDIENTES COBRAR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754880" y="192024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5989320" y="1920240"/>
            <a:ext cx="548700" cy="91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57200" y="4663440"/>
            <a:ext cx="137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691640" y="4663440"/>
            <a:ext cx="5487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2606040" y="2103120"/>
            <a:ext cx="1371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3840480" y="2103120"/>
            <a:ext cx="548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2606040" y="1874520"/>
            <a:ext cx="1371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1" sz="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2606040" y="2240420"/>
            <a:ext cx="1371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t/>
            </a:r>
            <a:endParaRPr b="0" i="1" sz="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09" name="Google Shape;209;p5"/>
          <p:cNvGraphicFramePr/>
          <p:nvPr/>
        </p:nvGraphicFramePr>
        <p:xfrm>
          <a:off x="475575" y="1167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{3CCDDE8F-9A11-4C67-94BB-A785A3355D4A}</a:tableStyleId>
              </a:tblPr>
              <a:tblGrid>
                <a:gridCol w="1073425"/>
                <a:gridCol w="737125"/>
              </a:tblGrid>
              <a:tr h="263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51A5F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59.989,00€</a:t>
                      </a:r>
                      <a:endParaRPr b="1" sz="1300">
                        <a:solidFill>
                          <a:srgbClr val="51A5F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0:1"/>
                      </a:ext>
                    </a:extLst>
                  </a:tcPr>
                </a:tc>
              </a:tr>
              <a:tr h="248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Operaciones</a:t>
                      </a:r>
                      <a:endParaRPr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1:1"/>
                      </a:ext>
                    </a:extLst>
                  </a:tcPr>
                </a:tc>
              </a:tr>
              <a:tr h="24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2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C. Maestro Marques 92</a:t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5.964 €</a:t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3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C. Salinas 7</a:t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6.000 €</a:t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4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Avda Holanda 15</a:t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18.900 €</a:t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5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C. Cigueña 4</a:t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17.325 €</a:t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6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Av. Condominia 1</a:t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11.800 €</a:t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7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8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9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10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11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9:12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210" name="Google Shape;210;p5"/>
          <p:cNvGraphicFramePr/>
          <p:nvPr/>
        </p:nvGraphicFramePr>
        <p:xfrm>
          <a:off x="2615200" y="116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{3CCDDE8F-9A11-4C67-94BB-A785A3355D4A}</a:tableStyleId>
              </a:tblPr>
              <a:tblGrid>
                <a:gridCol w="825800"/>
                <a:gridCol w="984750"/>
              </a:tblGrid>
              <a:tr h="263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51A5F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0€</a:t>
                      </a:r>
                      <a:endParaRPr b="1" sz="1300">
                        <a:solidFill>
                          <a:srgbClr val="51A5F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0:1"/>
                      </a:ext>
                    </a:extLst>
                  </a:tcPr>
                </a:tc>
              </a:tr>
              <a:tr h="248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 Operaciones</a:t>
                      </a:r>
                      <a:endParaRPr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1:1"/>
                      </a:ext>
                    </a:extLst>
                  </a:tcPr>
                </a:tc>
              </a:tr>
              <a:tr h="24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2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3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4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5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6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7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8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9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10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11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0:12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211" name="Google Shape;211;p5"/>
          <p:cNvGraphicFramePr/>
          <p:nvPr/>
        </p:nvGraphicFramePr>
        <p:xfrm>
          <a:off x="4764050" y="116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{3CCDDE8F-9A11-4C67-94BB-A785A3355D4A}</a:tableStyleId>
              </a:tblPr>
              <a:tblGrid>
                <a:gridCol w="825800"/>
                <a:gridCol w="984750"/>
              </a:tblGrid>
              <a:tr h="263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ACC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0€</a:t>
                      </a:r>
                      <a:endParaRPr b="1" sz="1300">
                        <a:solidFill>
                          <a:srgbClr val="FACC16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0:1"/>
                      </a:ext>
                    </a:extLst>
                  </a:tcPr>
                </a:tc>
              </a:tr>
              <a:tr h="248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 Operaciones</a:t>
                      </a:r>
                      <a:endParaRPr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1:1"/>
                      </a:ext>
                    </a:extLst>
                  </a:tcPr>
                </a:tc>
              </a:tr>
              <a:tr h="24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2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3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4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5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6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7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8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9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10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11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1:12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212" name="Google Shape;212;p5"/>
          <p:cNvGraphicFramePr/>
          <p:nvPr/>
        </p:nvGraphicFramePr>
        <p:xfrm>
          <a:off x="6912900" y="116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{3CCDDE8F-9A11-4C67-94BB-A785A3355D4A}</a:tableStyleId>
              </a:tblPr>
              <a:tblGrid>
                <a:gridCol w="988850"/>
                <a:gridCol w="821700"/>
              </a:tblGrid>
              <a:tr h="263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90.120,25€</a:t>
                      </a:r>
                      <a:endParaRPr b="1" sz="13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0:1"/>
                      </a:ext>
                    </a:extLst>
                  </a:tcPr>
                </a:tc>
              </a:tr>
              <a:tr h="248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Operaciones</a:t>
                      </a:r>
                      <a:endParaRPr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1:1"/>
                      </a:ext>
                    </a:extLst>
                  </a:tcPr>
                </a:tc>
              </a:tr>
              <a:tr h="24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2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C. Zarzas 30</a:t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13.595 €</a:t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3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C. Islandia 6</a:t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70.000 €</a:t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4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C. Vicente Aleixandre 38</a:t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6.525,21€</a:t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5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6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7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8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9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10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11:1"/>
                      </a:ext>
                    </a:extLst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2:12:1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8" name="Google Shape;2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6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57200" y="365760"/>
            <a:ext cx="3059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CUENTA DE RESULTADOS: OPERATIVA VS. REAL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57200" y="550075"/>
            <a:ext cx="405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ANÁLISIS DE RENTABILIDAD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457200" y="1280160"/>
            <a:ext cx="3929100" cy="3474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42957" y="1463040"/>
            <a:ext cx="2076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RENTABILIDAD OPERATIVA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42964" y="19202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Ingresos Totales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3474720" y="192024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157.952,82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40110" y="21488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Coste Asesores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474720" y="214884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59.700,96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40110" y="2925128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Fijos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488125" y="2925128"/>
            <a:ext cx="626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37.414,54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40110" y="3153728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Variables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488124" y="3153725"/>
            <a:ext cx="626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-2.440,20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42983" y="3382328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Costes Programadores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3516600" y="3382325"/>
            <a:ext cx="598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3.972,73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42957" y="397764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RESULTADO OPERATIVO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40075" y="4206250"/>
            <a:ext cx="23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"/>
              <a:buNone/>
            </a:pPr>
            <a:r>
              <a:rPr b="1"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54.424,40</a:t>
            </a:r>
            <a:r>
              <a:rPr b="1" i="0" lang="en-US" sz="2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3292018" y="4295780"/>
            <a:ext cx="82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34,46</a:t>
            </a:r>
            <a:r>
              <a:rPr b="1" i="0" lang="en-US" sz="1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%</a:t>
            </a:r>
            <a:endParaRPr b="0" i="0" sz="1200" u="none" cap="none" strike="noStrike">
              <a:solidFill>
                <a:srgbClr val="4ADE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4754880" y="1280160"/>
            <a:ext cx="3929100" cy="3474600"/>
          </a:xfrm>
          <a:prstGeom prst="rect">
            <a:avLst/>
          </a:prstGeom>
          <a:solidFill>
            <a:srgbClr val="0B1F4B">
              <a:alpha val="0"/>
            </a:srgbClr>
          </a:solidFill>
          <a:ln cap="flat" cmpd="sng" w="1827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937760" y="1732359"/>
            <a:ext cx="3566100" cy="7200"/>
          </a:xfrm>
          <a:prstGeom prst="rect">
            <a:avLst/>
          </a:prstGeom>
          <a:solidFill>
            <a:srgbClr val="EFE5C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937760" y="1463040"/>
            <a:ext cx="1646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RENTABILIDAD REAL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5331" y="1417320"/>
            <a:ext cx="135731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"/>
          <p:cNvSpPr/>
          <p:nvPr/>
        </p:nvSpPr>
        <p:spPr>
          <a:xfrm>
            <a:off x="4937760" y="19202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Ingresos Totales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7772400" y="1903801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157.952,82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4937760" y="2148840"/>
            <a:ext cx="1524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Operativos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7635250" y="214885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103.528,43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983480" y="2560320"/>
            <a:ext cx="3474600" cy="1188600"/>
          </a:xfrm>
          <a:prstGeom prst="rect">
            <a:avLst/>
          </a:prstGeom>
          <a:solidFill>
            <a:srgbClr val="F87171">
              <a:alpha val="10196"/>
            </a:srgbClr>
          </a:solidFill>
          <a:ln cap="flat" cmpd="sng" w="9525">
            <a:solidFill>
              <a:srgbClr val="F8717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5166360" y="2651760"/>
            <a:ext cx="107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EXTRA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7635240" y="265176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257800" y="2971800"/>
            <a:ext cx="3141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282B4F"/>
                </a:solidFill>
                <a:latin typeface="Inter"/>
                <a:ea typeface="Inter"/>
                <a:cs typeface="Inter"/>
                <a:sym typeface="Inter"/>
              </a:rPr>
              <a:t>Sueldos + Seg. Social - Comisiones Variables	       </a:t>
            </a:r>
            <a:r>
              <a:rPr b="0" i="0" lang="en-US" sz="300" u="none" cap="none" strike="noStrike">
                <a:solidFill>
                  <a:srgbClr val="282B4F"/>
                </a:solidFill>
                <a:latin typeface="Inter"/>
                <a:ea typeface="Inter"/>
                <a:cs typeface="Inter"/>
                <a:sym typeface="Inter"/>
              </a:rPr>
              <a:t>     </a:t>
            </a:r>
            <a:r>
              <a:rPr b="0" i="0" lang="en-US" sz="700" u="none" cap="none" strike="noStrike">
                <a:solidFill>
                  <a:srgbClr val="282B4F"/>
                </a:solidFill>
                <a:latin typeface="Inter"/>
                <a:ea typeface="Inter"/>
                <a:cs typeface="Inter"/>
                <a:sym typeface="Inter"/>
              </a:rPr>
              <a:t>-3.028 €</a:t>
            </a:r>
            <a:endParaRPr b="0" i="0" sz="700" u="none" cap="none" strike="noStrike">
              <a:solidFill>
                <a:srgbClr val="282B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282B4F"/>
                </a:solidFill>
                <a:latin typeface="Inter"/>
                <a:ea typeface="Inter"/>
                <a:cs typeface="Inter"/>
                <a:sym typeface="Inter"/>
              </a:rPr>
              <a:t>Gastos de personal / oficina			     </a:t>
            </a:r>
            <a:r>
              <a:rPr b="0" i="0" lang="en-US" sz="600" u="none" cap="none" strike="noStrike">
                <a:solidFill>
                  <a:srgbClr val="282B4F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b="0" i="0" lang="en-US" sz="700" u="none" cap="none" strike="noStrike">
                <a:solidFill>
                  <a:srgbClr val="282B4F"/>
                </a:solidFill>
                <a:latin typeface="Inter"/>
                <a:ea typeface="Inter"/>
                <a:cs typeface="Inter"/>
                <a:sym typeface="Inter"/>
              </a:rPr>
              <a:t>     - 27 €</a:t>
            </a:r>
            <a:b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					</a:t>
            </a:r>
            <a:endParaRPr b="0" i="0" sz="7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937760" y="3843338"/>
            <a:ext cx="3566100" cy="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937760" y="397764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RESULTADO NETO FINAL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937750" y="4206250"/>
            <a:ext cx="224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800"/>
              <a:buFont typeface="Inter"/>
              <a:buNone/>
            </a:pPr>
            <a:r>
              <a:rPr b="1" lang="en-US" sz="28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54.424,40</a:t>
            </a:r>
            <a:r>
              <a:rPr b="1" i="0" lang="en-US" sz="2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8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7575909" y="4295780"/>
            <a:ext cx="82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34,46 </a:t>
            </a:r>
            <a:r>
              <a:rPr b="1" i="0" lang="en-US" sz="1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1200" u="none" cap="none" strike="noStrike">
              <a:solidFill>
                <a:srgbClr val="4ADE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548640" y="2377440"/>
            <a:ext cx="3657600" cy="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642957" y="246888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RESULTADO OPERATIVO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474720" y="2468865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98.251,86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2" name="Google Shape;2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57200" y="365760"/>
            <a:ext cx="3287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ANÁLISIS DE BREAK EVEN Y OBJETIVOS DE MARGEN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57200" y="550075"/>
            <a:ext cx="731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OBJETIVOS DE FACTURACIÓN: ESCENARIOS DE RENTABILIDAD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57200" y="1554480"/>
            <a:ext cx="3964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ESCENARIO OPERATIVO (SIN EXTRAS)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57200" y="1100763"/>
            <a:ext cx="8229600" cy="3660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750594" y="1554480"/>
            <a:ext cx="3964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ESCENARIO REAL (CON EXTRAS)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1371600" y="4023360"/>
            <a:ext cx="6400800" cy="9144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Los 157.952,82€ de facturación en abril nos han permitido superar el Break Even 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holgadamente y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alcanzando por primera vez el margen objetivo del 20%. Al no haber gastos extra, ambos escenarios son coincidentes. Fruto de este resultado ha sido el cierre de operaciones abiertas en los meses anteriores. Por ello es 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determinante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continuar ampliando la parte comercial.</a:t>
            </a:r>
            <a:endParaRPr b="0" i="0" sz="9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71" name="Google Shape;271;p7"/>
          <p:cNvGraphicFramePr/>
          <p:nvPr/>
        </p:nvGraphicFramePr>
        <p:xfrm>
          <a:off x="651663" y="220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{3CCDDE8F-9A11-4C67-94BB-A785A3355D4A}</a:tableStyleId>
              </a:tblPr>
              <a:tblGrid>
                <a:gridCol w="1028725"/>
                <a:gridCol w="1496550"/>
                <a:gridCol w="485175"/>
                <a:gridCol w="528300"/>
                <a:gridCol w="754650"/>
                <a:gridCol w="993650"/>
                <a:gridCol w="1643150"/>
                <a:gridCol w="481175"/>
                <a:gridCol w="589375"/>
              </a:tblGrid>
              <a:tr h="346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ESCENARIO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FACTURACIÓN NECESARIA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0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ESTADO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0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ESCENARIO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FACTURACIÓN NECESARIA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0:6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ESTADO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0:7"/>
                      </a:ext>
                    </a:extLst>
                  </a:tcPr>
                </a:tc>
                <a:tc hMerge="1"/>
              </a:tr>
              <a:tr h="274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Even (0%)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73.045,78 €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1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1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Even (0%)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73.045,78 €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1:6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1:7"/>
                      </a:ext>
                    </a:extLst>
                  </a:tcPr>
                </a:tc>
                <a:tc hMerge="1"/>
              </a:tr>
              <a:tr h="274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10%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87.654,93 €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10%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87.654,93 €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6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7"/>
                      </a:ext>
                    </a:extLst>
                  </a:tcPr>
                </a:tc>
                <a:tc hMerge="1"/>
              </a:tr>
              <a:tr h="274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20%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109.568,66 €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20%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109.568,66 €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6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7"/>
                      </a:ext>
                    </a:extLst>
                  </a:tcPr>
                </a:tc>
                <a:tc hMerge="1"/>
              </a:tr>
              <a:tr h="262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30%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146.091,55 €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4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4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30%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146.091,55 €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4:6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4:7"/>
                      </a:ext>
                    </a:extLst>
                  </a:tcPr>
                </a:tc>
                <a:tc hMerge="1"/>
              </a:tr>
              <a:tr h="262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40%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219.137,33 €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61.184,51 €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40%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219.137,33 €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61.184,51 €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5:8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272" name="Google Shape;272;p7"/>
          <p:cNvGraphicFramePr/>
          <p:nvPr/>
        </p:nvGraphicFramePr>
        <p:xfrm>
          <a:off x="2560175" y="117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{3CCDDE8F-9A11-4C67-94BB-A785A3355D4A}</a:tableStyleId>
              </a:tblPr>
              <a:tblGrid>
                <a:gridCol w="2305050"/>
                <a:gridCol w="952500"/>
              </a:tblGrid>
              <a:tr h="209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Ingresos Obtenidos Abril: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157.952,82 €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2:0:1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57200" y="365760"/>
            <a:ext cx="5193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584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OBJETIVOS FINANCIEROS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57200" y="548640"/>
            <a:ext cx="740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4"/>
              <a:buFont typeface="Inter"/>
              <a:buNone/>
            </a:pPr>
            <a:r>
              <a:rPr b="1" i="0" lang="en-US" sz="150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ESTIMACIÓN DE BREAK EVEN Y OBJETIVOS DE FACTURACIÓN PARA </a:t>
            </a:r>
            <a:r>
              <a:rPr b="1" lang="en-US" sz="150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MAYO</a:t>
            </a:r>
            <a:endParaRPr b="0" i="0" sz="15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548640" y="1236345"/>
            <a:ext cx="1645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0" i="0" sz="9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2194560" y="1236345"/>
            <a:ext cx="1645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FACTURACIÓN NECESARIA</a:t>
            </a:r>
            <a:endParaRPr b="0" i="0" sz="9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840480" y="1236345"/>
            <a:ext cx="1645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NIVEL DE EXITO</a:t>
            </a:r>
            <a:endParaRPr b="0" i="0" sz="9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48640" y="1556385"/>
            <a:ext cx="151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Break Even (0%)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2651760" y="155638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82.889</a:t>
            </a: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48640" y="1967865"/>
            <a:ext cx="151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Margen 10%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651760" y="196786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99.466</a:t>
            </a: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48640" y="2379345"/>
            <a:ext cx="151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Margen 20%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2651760" y="237934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124.333</a:t>
            </a: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878818" y="2439948"/>
            <a:ext cx="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48640" y="2790825"/>
            <a:ext cx="945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Margen 30%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2651760" y="279082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165.777 </a:t>
            </a: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7206258" y="4330898"/>
            <a:ext cx="65" cy="26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Font typeface="Calibri"/>
              <a:buNone/>
            </a:pPr>
            <a:r>
              <a:t/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572000" y="155638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SUPERVIVENCIA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572000" y="196786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572000" y="237934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ÓPTIMO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572000" y="279082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EXCELENCIA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8"/>
          <p:cNvCxnSpPr/>
          <p:nvPr/>
        </p:nvCxnSpPr>
        <p:spPr>
          <a:xfrm flipH="1" rot="10800000">
            <a:off x="455347" y="151066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8"/>
          <p:cNvCxnSpPr/>
          <p:nvPr/>
        </p:nvCxnSpPr>
        <p:spPr>
          <a:xfrm flipH="1" rot="10800000">
            <a:off x="455347" y="192214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01" name="Google Shape;301;p8"/>
          <p:cNvCxnSpPr/>
          <p:nvPr/>
        </p:nvCxnSpPr>
        <p:spPr>
          <a:xfrm flipH="1" rot="10800000">
            <a:off x="455347" y="233362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02" name="Google Shape;302;p8"/>
          <p:cNvCxnSpPr/>
          <p:nvPr/>
        </p:nvCxnSpPr>
        <p:spPr>
          <a:xfrm flipH="1" rot="10800000">
            <a:off x="455347" y="274510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03" name="Google Shape;303;p8"/>
          <p:cNvSpPr/>
          <p:nvPr/>
        </p:nvSpPr>
        <p:spPr>
          <a:xfrm>
            <a:off x="457200" y="3444385"/>
            <a:ext cx="8229600" cy="13716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EL CAMINO HACIA EL 20% ESTÁ EN </a:t>
            </a:r>
            <a:r>
              <a:rPr b="1" lang="en-US" sz="10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CONTINUAR LA TENDENCIA</a:t>
            </a:r>
            <a:endParaRPr b="1" i="0" sz="1000" u="none" cap="none" strike="noStrike">
              <a:solidFill>
                <a:srgbClr val="C9A84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Para alcanzar el objetivo óptimo de rentabilidad operativa (20%), necesitamos facturar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124.333</a:t>
            </a:r>
            <a:r>
              <a:rPr b="0" i="0" lang="en-US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Únicamente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cerrando el pipeline actuales ya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alcanzamos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el objetivo. Por ello, mantener el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ritmo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comercial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es clave para asegurar el flujo de ventas de los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próximos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meses. Para mayo se estima un break even superior por incrementos en el gasto de salarios, publicidad y notas simples.</a:t>
            </a:r>
            <a:endParaRPr b="0"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Conclusión: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Continuar con el ritmo actual en la parte comercial</a:t>
            </a:r>
            <a:endParaRPr b="0"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943600" y="1097280"/>
            <a:ext cx="2743200" cy="2103000"/>
          </a:xfrm>
          <a:prstGeom prst="rect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182875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▲ ESCENARIOS </a:t>
            </a:r>
            <a:r>
              <a:rPr b="1" lang="en-US" sz="12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MAYO</a:t>
            </a:r>
            <a:endParaRPr b="1" i="0" sz="1200" u="none" cap="none" strike="noStrike">
              <a:solidFill>
                <a:srgbClr val="C9A84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 esperan incrementos en el gasto.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Esperamos aumentos en la </a:t>
            </a: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captación</a:t>
            </a: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</a:t>
            </a: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reservas y menor </a:t>
            </a: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número</a:t>
            </a: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cierres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0" name="Google Shape;3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9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57200" y="365760"/>
            <a:ext cx="1792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PLAN DE ACCIÓN MENSUAL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57200" y="550074"/>
            <a:ext cx="583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SEMÁFORO ESTRATÉGICO Y PRIORIDADES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7413725" y="705454"/>
            <a:ext cx="13017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ABRIL </a:t>
            </a: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57200" y="1234440"/>
            <a:ext cx="3200400" cy="35205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42938" y="1417320"/>
            <a:ext cx="146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INDICADORES CLAVE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822965" y="1874520"/>
            <a:ext cx="1835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Crecimiento Comercial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22962" y="2029968"/>
            <a:ext cx="17400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Señales +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13,77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%, Arras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+167,31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822966" y="2331720"/>
            <a:ext cx="162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Calidad de Venta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822960" y="2487168"/>
            <a:ext cx="2669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Ticket medio vs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mes 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anterior +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43,94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 (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16.845,36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822969" y="2788920"/>
            <a:ext cx="1954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Eficiencia en Gasto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822963" y="2944368"/>
            <a:ext cx="27249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Gastos fijos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controlados y ausencia de gastos extra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822967" y="3246120"/>
            <a:ext cx="162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Rentabilidad Real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822979" y="3401575"/>
            <a:ext cx="2834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34,46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 (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Objetivo: Consolidar rentabilidad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822969" y="3703320"/>
            <a:ext cx="1792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Riesgo Operativo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822963" y="3858768"/>
            <a:ext cx="2255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Nulo (0 € en arras condicionadas)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840480" y="1234440"/>
            <a:ext cx="2423100" cy="15087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023360" y="1508760"/>
            <a:ext cx="1792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ACELERACIÓN DE COBROS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023350" y="1737350"/>
            <a:ext cx="21945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Gestionar el cobro inmediato de los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90.120,25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 pendientes.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este importe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pendiente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 cobro, 70.000€ son por una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única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propiedad. Importante un seguimiento para evitar riesgos.</a:t>
            </a:r>
            <a:endParaRPr b="0" i="0" sz="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6537368" y="1234440"/>
            <a:ext cx="2194500" cy="15087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6720840" y="1508760"/>
            <a:ext cx="1873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PLAN DE CHOQUE: RENTABILIDAD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729925" y="1737346"/>
            <a:ext cx="19203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objetivo prioritario de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mayo es continuar con este crecimiento en ventas.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Las reservas han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aumentado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pero deben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seguir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haciéndolo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para que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genere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un embudo  con los cierres.</a:t>
            </a:r>
            <a:endParaRPr b="0" i="0" sz="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840480" y="2926080"/>
            <a:ext cx="2423100" cy="18288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023360" y="2834640"/>
            <a:ext cx="411600" cy="228600"/>
          </a:xfrm>
          <a:prstGeom prst="rect">
            <a:avLst/>
          </a:prstGeom>
          <a:solidFill>
            <a:srgbClr val="0B1F4B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023360" y="3200400"/>
            <a:ext cx="1740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CONVERSIÓN DEL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023360" y="3429000"/>
            <a:ext cx="2057400" cy="12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Acelerar la firma de los </a:t>
            </a:r>
            <a:r>
              <a:rPr lang="en-US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59.989</a:t>
            </a:r>
            <a:r>
              <a:rPr b="0" i="0" lang="en-US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€ que tenemos pendientes de arras. La gran ventaja es que no tenemos operaciones condicionadas, por lo que la gestión notarial debe ser rápida y directa.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6537960" y="2926080"/>
            <a:ext cx="2192400" cy="18288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720840" y="3200400"/>
            <a:ext cx="18351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ABSORCIÓN DE GASTOS FIJOS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6720840" y="3429000"/>
            <a:ext cx="1828800" cy="1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 proyección de costes fijos  (37</a:t>
            </a:r>
            <a:r>
              <a:rPr lang="en-US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.414,54</a:t>
            </a:r>
            <a:r>
              <a:rPr b="0" i="0" lang="en-US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€) ya está optimizada y plenamente justificada. </a:t>
            </a:r>
            <a:endParaRPr b="0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Sin margen para más recortes, el foco exclusivo es seguir escala</a:t>
            </a:r>
            <a:r>
              <a:rPr lang="en-US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ndo</a:t>
            </a:r>
            <a:r>
              <a:rPr b="0" i="0" lang="en-US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el volumen de ventas.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6720860" y="2834640"/>
            <a:ext cx="411600" cy="228600"/>
          </a:xfrm>
          <a:prstGeom prst="rect">
            <a:avLst/>
          </a:prstGeom>
          <a:solidFill>
            <a:srgbClr val="0B1F4B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6720860" y="1143000"/>
            <a:ext cx="411600" cy="228600"/>
          </a:xfrm>
          <a:prstGeom prst="rect">
            <a:avLst/>
          </a:prstGeom>
          <a:solidFill>
            <a:srgbClr val="0B1F4B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023360" y="1140103"/>
            <a:ext cx="411600" cy="228600"/>
          </a:xfrm>
          <a:prstGeom prst="rect">
            <a:avLst/>
          </a:prstGeom>
          <a:solidFill>
            <a:srgbClr val="0B1F4B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640080" y="3310128"/>
            <a:ext cx="91500" cy="915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640080" y="2852928"/>
            <a:ext cx="91500" cy="91500"/>
          </a:xfrm>
          <a:prstGeom prst="ellipse">
            <a:avLst/>
          </a:prstGeom>
          <a:solidFill>
            <a:srgbClr val="4ADE80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42914" y="1934750"/>
            <a:ext cx="91500" cy="91500"/>
          </a:xfrm>
          <a:prstGeom prst="ellipse">
            <a:avLst/>
          </a:prstGeom>
          <a:solidFill>
            <a:srgbClr val="C9A84C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642914" y="3761660"/>
            <a:ext cx="91500" cy="91500"/>
          </a:xfrm>
          <a:prstGeom prst="ellipse">
            <a:avLst/>
          </a:prstGeom>
          <a:solidFill>
            <a:srgbClr val="4ADE80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2026-03-12T14:39:49Z</dcterms:created>
  <dc:creator>PptxGenJS</dc:creator>
</cp:coreProperties>
</file>