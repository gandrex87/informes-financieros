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MRPey0NGSPo7nzZ8T1dLrIqF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A639FB-1131-4DEB-BC08-4E5E8BF19750}">
  <a:tblStyle styleId="{75A639FB-1131-4DEB-BC08-4E5E8BF197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8b58a07beb_0_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g38b58a07beb_0_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8b58a07beb_0_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58a07beb_0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g38b58a07beb_0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8b58a07beb_0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710f5d106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8710f5d106_0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8710f5d106_0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a2407b19_0_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5a2407b19_0_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5a2407b19_0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g3d5a2407b19_0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d5a2407b19_0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571500" y="428625"/>
            <a:ext cx="1605600" cy="249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9A84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71500" y="428625"/>
            <a:ext cx="16056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70050" spcFirstLastPara="1" rIns="170050" wrap="square" tIns="6805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683"/>
              <a:buFont typeface="Inter"/>
              <a:buNone/>
            </a:pPr>
            <a:r>
              <a:rPr b="1" i="0" lang="en-US" sz="683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CEO · CONFIDENCIAL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71500" y="1285875"/>
            <a:ext cx="8001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LION CAPITAL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71500" y="1635919"/>
            <a:ext cx="8001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71500" y="2214563"/>
            <a:ext cx="8001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FINANCIERO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71500" y="2793206"/>
            <a:ext cx="8001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627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664"/>
              <a:buFont typeface="Inter"/>
              <a:buNone/>
            </a:pPr>
            <a:r>
              <a:rPr b="1" i="0" lang="en-US" sz="4664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MENSUAL</a:t>
            </a:r>
            <a:endParaRPr b="0" i="0" sz="4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8675" y="3514725"/>
            <a:ext cx="18342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Inter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SEDE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8675" y="3705825"/>
            <a:ext cx="6242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4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77"/>
              <a:buFont typeface="Inter"/>
              <a:buNone/>
            </a:pPr>
            <a:r>
              <a:rPr b="1" i="0" lang="en-US" sz="307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Valencia y Alicante</a:t>
            </a:r>
            <a:endParaRPr b="0" i="0" sz="30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71500" y="4277320"/>
            <a:ext cx="80010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Inter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 de Resultados · </a:t>
            </a:r>
            <a:r>
              <a:rPr lang="en-US" sz="12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0" i="0" lang="en-US" sz="126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71500" y="4602361"/>
            <a:ext cx="8001000" cy="25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71500" y="4602361"/>
            <a:ext cx="80010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71500" y="4752380"/>
            <a:ext cx="16038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Inter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Lion Capital Real Estate 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929313" y="4752380"/>
            <a:ext cx="26433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Inter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Preparado por: Dpto. Financiero · Uso interno · Dirección General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g38b58a07beb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9144000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g38b58a07beb_0_33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8b58a07beb_0_33"/>
          <p:cNvSpPr/>
          <p:nvPr/>
        </p:nvSpPr>
        <p:spPr>
          <a:xfrm>
            <a:off x="457200" y="36576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RESUMEN DE KPIS CLAVE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g38b58a07beb_0_33"/>
          <p:cNvSpPr/>
          <p:nvPr/>
        </p:nvSpPr>
        <p:spPr>
          <a:xfrm>
            <a:off x="457200" y="550075"/>
            <a:ext cx="484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EJECUTIVO:</a:t>
            </a:r>
            <a:r>
              <a:rPr b="1"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ABRIL</a:t>
            </a: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2026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g38b58a07beb_0_33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8b58a07beb_0_33"/>
          <p:cNvSpPr/>
          <p:nvPr/>
        </p:nvSpPr>
        <p:spPr>
          <a:xfrm>
            <a:off x="45720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g38b58a07beb_0_33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2697480" y="13269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8b58a07beb_0_33"/>
          <p:cNvSpPr/>
          <p:nvPr/>
        </p:nvSpPr>
        <p:spPr>
          <a:xfrm>
            <a:off x="594360" y="1325280"/>
            <a:ext cx="1647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PRODUCCIÓN (RESERVAS)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8b58a07beb_0_33"/>
          <p:cNvSpPr/>
          <p:nvPr/>
        </p:nvSpPr>
        <p:spPr>
          <a:xfrm>
            <a:off x="594350" y="1600200"/>
            <a:ext cx="207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702.023,30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8b58a07beb_0_33"/>
          <p:cNvSpPr/>
          <p:nvPr/>
        </p:nvSpPr>
        <p:spPr>
          <a:xfrm>
            <a:off x="640073" y="2011675"/>
            <a:ext cx="1689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3,47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 vs 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1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" name="Google Shape;44;g38b58a07beb_0_33"/>
          <p:cNvSpPr/>
          <p:nvPr/>
        </p:nvSpPr>
        <p:spPr>
          <a:xfrm>
            <a:off x="594360" y="2240280"/>
            <a:ext cx="226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507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Pagas y Señales (Venta + Alquiler)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8b58a07beb_0_33"/>
          <p:cNvSpPr/>
          <p:nvPr/>
        </p:nvSpPr>
        <p:spPr>
          <a:xfrm>
            <a:off x="329184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g38b58a07beb_0_33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5532120" y="13269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8b58a07beb_0_33"/>
          <p:cNvSpPr/>
          <p:nvPr/>
        </p:nvSpPr>
        <p:spPr>
          <a:xfrm>
            <a:off x="3429000" y="1325880"/>
            <a:ext cx="1463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CIERRE (CONTRATOS FIRMADOS)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8b58a07beb_0_33"/>
          <p:cNvSpPr/>
          <p:nvPr/>
        </p:nvSpPr>
        <p:spPr>
          <a:xfrm>
            <a:off x="3429000" y="1600200"/>
            <a:ext cx="196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725.041,15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8b58a07beb_0_33"/>
          <p:cNvSpPr/>
          <p:nvPr/>
        </p:nvSpPr>
        <p:spPr>
          <a:xfrm>
            <a:off x="3474729" y="2011676"/>
            <a:ext cx="1813500" cy="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56,24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 vs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1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g38b58a07beb_0_33"/>
          <p:cNvSpPr/>
          <p:nvPr/>
        </p:nvSpPr>
        <p:spPr>
          <a:xfrm>
            <a:off x="3429000" y="2240280"/>
            <a:ext cx="226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507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Arras Firmados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8b58a07beb_0_33"/>
          <p:cNvSpPr/>
          <p:nvPr/>
        </p:nvSpPr>
        <p:spPr>
          <a:xfrm>
            <a:off x="6126480" y="1188720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g38b58a07beb_0_33"/>
          <p:cNvPicPr preferRelativeResize="0"/>
          <p:nvPr/>
        </p:nvPicPr>
        <p:blipFill rotWithShape="1">
          <a:blip r:embed="rId6">
            <a:alphaModFix amt="50000"/>
          </a:blip>
          <a:srcRect b="0" l="0" r="0" t="0"/>
          <a:stretch/>
        </p:blipFill>
        <p:spPr>
          <a:xfrm>
            <a:off x="8412480" y="1326952"/>
            <a:ext cx="13716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8b58a07beb_0_33"/>
          <p:cNvSpPr/>
          <p:nvPr/>
        </p:nvSpPr>
        <p:spPr>
          <a:xfrm>
            <a:off x="6263640" y="1325880"/>
            <a:ext cx="1187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FACTURACIÓN REAL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8b58a07beb_0_33"/>
          <p:cNvSpPr/>
          <p:nvPr/>
        </p:nvSpPr>
        <p:spPr>
          <a:xfrm>
            <a:off x="6263652" y="1600200"/>
            <a:ext cx="207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581.352,52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8b58a07beb_0_33"/>
          <p:cNvSpPr/>
          <p:nvPr/>
        </p:nvSpPr>
        <p:spPr>
          <a:xfrm>
            <a:off x="6309347" y="2011675"/>
            <a:ext cx="1689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27,35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% vs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mes anterior</a:t>
            </a:r>
            <a:endParaRPr b="1" i="0" sz="800" u="none" cap="none" strike="noStrike">
              <a:solidFill>
                <a:srgbClr val="4ADE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g38b58a07beb_0_33"/>
          <p:cNvSpPr/>
          <p:nvPr/>
        </p:nvSpPr>
        <p:spPr>
          <a:xfrm>
            <a:off x="6263640" y="2240280"/>
            <a:ext cx="226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5075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Contables Totales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58a07beb_0_33"/>
          <p:cNvSpPr/>
          <p:nvPr/>
        </p:nvSpPr>
        <p:spPr>
          <a:xfrm>
            <a:off x="457200" y="2834640"/>
            <a:ext cx="2560200" cy="914400"/>
          </a:xfrm>
          <a:prstGeom prst="rect">
            <a:avLst/>
          </a:prstGeom>
          <a:solidFill>
            <a:srgbClr val="0B1F4B">
              <a:alpha val="50196"/>
            </a:srgbClr>
          </a:solidFill>
          <a:ln cap="flat" cmpd="sng" w="9525">
            <a:solidFill>
              <a:srgbClr val="C9A84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58a07beb_0_33"/>
          <p:cNvSpPr/>
          <p:nvPr/>
        </p:nvSpPr>
        <p:spPr>
          <a:xfrm>
            <a:off x="594360" y="2971800"/>
            <a:ext cx="1778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EBITDA OPERATIVO (SIN EXTRAS)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8b58a07beb_0_33"/>
          <p:cNvSpPr/>
          <p:nvPr/>
        </p:nvSpPr>
        <p:spPr>
          <a:xfrm>
            <a:off x="594350" y="3200400"/>
            <a:ext cx="123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181.725,60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8b58a07beb_0_33"/>
          <p:cNvSpPr/>
          <p:nvPr/>
        </p:nvSpPr>
        <p:spPr>
          <a:xfrm>
            <a:off x="1828800" y="3200400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31,26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8b58a07beb_0_33"/>
          <p:cNvSpPr/>
          <p:nvPr/>
        </p:nvSpPr>
        <p:spPr>
          <a:xfrm>
            <a:off x="3291840" y="2834640"/>
            <a:ext cx="2560200" cy="914400"/>
          </a:xfrm>
          <a:prstGeom prst="rect">
            <a:avLst/>
          </a:prstGeom>
          <a:solidFill>
            <a:srgbClr val="4ADE80">
              <a:alpha val="5098"/>
            </a:srgbClr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8b58a07beb_0_33"/>
          <p:cNvSpPr/>
          <p:nvPr/>
        </p:nvSpPr>
        <p:spPr>
          <a:xfrm>
            <a:off x="3429000" y="2971800"/>
            <a:ext cx="1689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EBITDA NETO (CON EXTRAS)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8b58a07beb_0_33"/>
          <p:cNvSpPr/>
          <p:nvPr/>
        </p:nvSpPr>
        <p:spPr>
          <a:xfrm>
            <a:off x="3429000" y="3200400"/>
            <a:ext cx="1137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Inter"/>
              <a:buNone/>
            </a:pPr>
            <a:r>
              <a:rPr b="1" lang="en-US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133.111,02</a:t>
            </a:r>
            <a:r>
              <a:rPr b="1" i="0" lang="en-US" sz="14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14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8b58a07beb_0_33"/>
          <p:cNvSpPr/>
          <p:nvPr/>
        </p:nvSpPr>
        <p:spPr>
          <a:xfrm>
            <a:off x="4715775" y="3200400"/>
            <a:ext cx="45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22,90</a:t>
            </a:r>
            <a:r>
              <a:rPr b="0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58a07beb_0_33"/>
          <p:cNvSpPr/>
          <p:nvPr/>
        </p:nvSpPr>
        <p:spPr>
          <a:xfrm>
            <a:off x="6126480" y="2834640"/>
            <a:ext cx="2560200" cy="914400"/>
          </a:xfrm>
          <a:prstGeom prst="rect">
            <a:avLst/>
          </a:prstGeom>
          <a:solidFill>
            <a:srgbClr val="0B1F4B">
              <a:alpha val="50196"/>
            </a:srgbClr>
          </a:solidFill>
          <a:ln cap="flat" cmpd="sng" w="9525">
            <a:solidFill>
              <a:srgbClr val="C9A84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8b58a07beb_0_33"/>
          <p:cNvSpPr/>
          <p:nvPr/>
        </p:nvSpPr>
        <p:spPr>
          <a:xfrm>
            <a:off x="6263640" y="2971800"/>
            <a:ext cx="220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PIPELINE + COBROS (VISIBILIDAD Q</a:t>
            </a: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8b58a07beb_0_33"/>
          <p:cNvSpPr/>
          <p:nvPr/>
        </p:nvSpPr>
        <p:spPr>
          <a:xfrm>
            <a:off x="6263651" y="3108950"/>
            <a:ext cx="14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1.235.103,65</a:t>
            </a: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1" i="0" sz="14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g38b58a07beb_0_33"/>
          <p:cNvSpPr/>
          <p:nvPr/>
        </p:nvSpPr>
        <p:spPr>
          <a:xfrm>
            <a:off x="6263640" y="3474720"/>
            <a:ext cx="2395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nter"/>
              <a:buNone/>
            </a:pPr>
            <a:r>
              <a:rPr lang="en-US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601.263,65</a:t>
            </a:r>
            <a:r>
              <a:rPr b="0" i="0" lang="en-US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€ Liquidez Inmediata  +  </a:t>
            </a:r>
            <a:r>
              <a:rPr lang="en-US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633.840</a:t>
            </a:r>
            <a:r>
              <a:rPr b="0" i="0" lang="en-US" sz="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€ Diferido </a:t>
            </a:r>
            <a:endParaRPr b="0" i="0" sz="7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g38b58a07beb_0_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g38b58a07beb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8b58a07beb_0_75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8b58a07beb_0_75"/>
          <p:cNvSpPr/>
          <p:nvPr/>
        </p:nvSpPr>
        <p:spPr>
          <a:xfrm>
            <a:off x="457200" y="365760"/>
            <a:ext cx="352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COMPARATIVA DE KPIS CLAVE VS. MES ANTERIOR Y AÑO ANTERIOR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8b58a07beb_0_75"/>
          <p:cNvSpPr/>
          <p:nvPr/>
        </p:nvSpPr>
        <p:spPr>
          <a:xfrm>
            <a:off x="457200" y="550075"/>
            <a:ext cx="599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DE PRODUCCIÓN: EVOLUCIÓN HISTÓRICA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58a07beb_0_75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58a07beb_0_75"/>
          <p:cNvSpPr/>
          <p:nvPr/>
        </p:nvSpPr>
        <p:spPr>
          <a:xfrm>
            <a:off x="457200" y="128016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8b58a07beb_0_75"/>
          <p:cNvSpPr/>
          <p:nvPr/>
        </p:nvSpPr>
        <p:spPr>
          <a:xfrm>
            <a:off x="457200" y="1280160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8b58a07beb_0_75"/>
          <p:cNvSpPr/>
          <p:nvPr/>
        </p:nvSpPr>
        <p:spPr>
          <a:xfrm>
            <a:off x="457200" y="1462075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RESERVAS (VENTA Y ALQUILER)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8b58a07beb_0_75"/>
          <p:cNvSpPr/>
          <p:nvPr/>
        </p:nvSpPr>
        <p:spPr>
          <a:xfrm>
            <a:off x="45720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702.023,30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8b58a07beb_0_75"/>
          <p:cNvSpPr/>
          <p:nvPr/>
        </p:nvSpPr>
        <p:spPr>
          <a:xfrm>
            <a:off x="457200" y="2103120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8b58a07beb_0_75"/>
          <p:cNvSpPr/>
          <p:nvPr/>
        </p:nvSpPr>
        <p:spPr>
          <a:xfrm>
            <a:off x="454025" y="2743200"/>
            <a:ext cx="2560200" cy="5466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8b58a07beb_0_75"/>
          <p:cNvSpPr/>
          <p:nvPr/>
        </p:nvSpPr>
        <p:spPr>
          <a:xfrm>
            <a:off x="594360" y="283464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8b58a07beb_0_75"/>
          <p:cNvSpPr/>
          <p:nvPr/>
        </p:nvSpPr>
        <p:spPr>
          <a:xfrm>
            <a:off x="596900" y="3017520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727.223,25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8b58a07beb_0_75"/>
          <p:cNvSpPr/>
          <p:nvPr/>
        </p:nvSpPr>
        <p:spPr>
          <a:xfrm>
            <a:off x="2103120" y="2926080"/>
            <a:ext cx="777300" cy="183000"/>
          </a:xfrm>
          <a:prstGeom prst="rect">
            <a:avLst/>
          </a:prstGeom>
          <a:solidFill>
            <a:srgbClr val="F87171">
              <a:alpha val="10200"/>
            </a:srgbClr>
          </a:solidFill>
          <a:ln>
            <a:noFill/>
          </a:ln>
        </p:spPr>
        <p:txBody>
          <a:bodyPr anchorCtr="0" anchor="ctr" bIns="34025" lIns="68050" spcFirstLastPara="1" rIns="68050" wrap="square" tIns="34025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-3,47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8b58a07beb_0_75"/>
          <p:cNvSpPr/>
          <p:nvPr/>
        </p:nvSpPr>
        <p:spPr>
          <a:xfrm>
            <a:off x="3291840" y="128016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8b58a07beb_0_75"/>
          <p:cNvSpPr/>
          <p:nvPr/>
        </p:nvSpPr>
        <p:spPr>
          <a:xfrm>
            <a:off x="3291840" y="1280160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8b58a07beb_0_75"/>
          <p:cNvSpPr/>
          <p:nvPr/>
        </p:nvSpPr>
        <p:spPr>
          <a:xfrm>
            <a:off x="3291840" y="1463040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Y CONTRATOS ALQUILER FDOS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8b58a07beb_0_75"/>
          <p:cNvSpPr/>
          <p:nvPr/>
        </p:nvSpPr>
        <p:spPr>
          <a:xfrm>
            <a:off x="329184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725.041,15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8b58a07beb_0_75"/>
          <p:cNvSpPr/>
          <p:nvPr/>
        </p:nvSpPr>
        <p:spPr>
          <a:xfrm>
            <a:off x="3291840" y="2103120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8b58a07beb_0_75"/>
          <p:cNvSpPr/>
          <p:nvPr/>
        </p:nvSpPr>
        <p:spPr>
          <a:xfrm>
            <a:off x="6126500" y="1280160"/>
            <a:ext cx="2560200" cy="1188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8b58a07beb_0_75"/>
          <p:cNvSpPr/>
          <p:nvPr/>
        </p:nvSpPr>
        <p:spPr>
          <a:xfrm>
            <a:off x="6126480" y="1280160"/>
            <a:ext cx="2560200" cy="28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8b58a07beb_0_75"/>
          <p:cNvSpPr/>
          <p:nvPr/>
        </p:nvSpPr>
        <p:spPr>
          <a:xfrm>
            <a:off x="6126480" y="1463040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TICKET MEDIO (VENTAS)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8b58a07beb_0_75"/>
          <p:cNvSpPr/>
          <p:nvPr/>
        </p:nvSpPr>
        <p:spPr>
          <a:xfrm>
            <a:off x="6126480" y="16916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15.267,74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8b58a07beb_0_75"/>
          <p:cNvSpPr/>
          <p:nvPr/>
        </p:nvSpPr>
        <p:spPr>
          <a:xfrm>
            <a:off x="6126480" y="2103120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Honorarios por Op.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8b58a07beb_0_75"/>
          <p:cNvSpPr/>
          <p:nvPr/>
        </p:nvSpPr>
        <p:spPr>
          <a:xfrm>
            <a:off x="457200" y="3474720"/>
            <a:ext cx="2560200" cy="5466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8b58a07beb_0_75"/>
          <p:cNvSpPr/>
          <p:nvPr/>
        </p:nvSpPr>
        <p:spPr>
          <a:xfrm>
            <a:off x="597535" y="356616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AÑO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8b58a07beb_0_75"/>
          <p:cNvSpPr/>
          <p:nvPr/>
        </p:nvSpPr>
        <p:spPr>
          <a:xfrm>
            <a:off x="600075" y="3749040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359.135,49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8b58a07beb_0_75"/>
          <p:cNvSpPr/>
          <p:nvPr/>
        </p:nvSpPr>
        <p:spPr>
          <a:xfrm>
            <a:off x="2103120" y="3657600"/>
            <a:ext cx="777300" cy="1830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34025" lIns="68050" spcFirstLastPara="1" rIns="68050" wrap="square" tIns="34025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95,48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8b58a07beb_0_75"/>
          <p:cNvSpPr/>
          <p:nvPr/>
        </p:nvSpPr>
        <p:spPr>
          <a:xfrm>
            <a:off x="3294513" y="3474720"/>
            <a:ext cx="2560200" cy="5466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8b58a07beb_0_75"/>
          <p:cNvSpPr/>
          <p:nvPr/>
        </p:nvSpPr>
        <p:spPr>
          <a:xfrm>
            <a:off x="3434848" y="356616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AÑO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8b58a07beb_0_75"/>
          <p:cNvSpPr/>
          <p:nvPr/>
        </p:nvSpPr>
        <p:spPr>
          <a:xfrm>
            <a:off x="3437388" y="3749040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388.808,43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8b58a07beb_0_75"/>
          <p:cNvSpPr/>
          <p:nvPr/>
        </p:nvSpPr>
        <p:spPr>
          <a:xfrm>
            <a:off x="4940433" y="3657600"/>
            <a:ext cx="777300" cy="1830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34025" lIns="68050" spcFirstLastPara="1" rIns="68050" wrap="square" tIns="34025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87,71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8b58a07beb_0_75"/>
          <p:cNvSpPr/>
          <p:nvPr/>
        </p:nvSpPr>
        <p:spPr>
          <a:xfrm>
            <a:off x="3293327" y="2743958"/>
            <a:ext cx="2560200" cy="5466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8b58a07beb_0_75"/>
          <p:cNvSpPr/>
          <p:nvPr/>
        </p:nvSpPr>
        <p:spPr>
          <a:xfrm>
            <a:off x="3433662" y="283539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8b58a07beb_0_75"/>
          <p:cNvSpPr/>
          <p:nvPr/>
        </p:nvSpPr>
        <p:spPr>
          <a:xfrm>
            <a:off x="3436202" y="3018278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464.065,36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8b58a07beb_0_75"/>
          <p:cNvSpPr/>
          <p:nvPr/>
        </p:nvSpPr>
        <p:spPr>
          <a:xfrm>
            <a:off x="4942422" y="2926838"/>
            <a:ext cx="777300" cy="183000"/>
          </a:xfrm>
          <a:prstGeom prst="rect">
            <a:avLst/>
          </a:prstGeom>
          <a:solidFill>
            <a:srgbClr val="4ADE80">
              <a:alpha val="5100"/>
            </a:srgbClr>
          </a:solidFill>
          <a:ln>
            <a:noFill/>
          </a:ln>
        </p:spPr>
        <p:txBody>
          <a:bodyPr anchorCtr="0" anchor="ctr" bIns="34025" lIns="68050" spcFirstLastPara="1" rIns="68050" wrap="square" tIns="34025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56,24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8b58a07beb_0_75"/>
          <p:cNvSpPr/>
          <p:nvPr/>
        </p:nvSpPr>
        <p:spPr>
          <a:xfrm>
            <a:off x="6126480" y="3474720"/>
            <a:ext cx="2560200" cy="5466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8b58a07beb_0_75"/>
          <p:cNvSpPr/>
          <p:nvPr/>
        </p:nvSpPr>
        <p:spPr>
          <a:xfrm>
            <a:off x="6266815" y="356616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AÑO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8b58a07beb_0_75"/>
          <p:cNvSpPr/>
          <p:nvPr/>
        </p:nvSpPr>
        <p:spPr>
          <a:xfrm>
            <a:off x="6269355" y="3749040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16.904,71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8b58a07beb_0_75"/>
          <p:cNvSpPr/>
          <p:nvPr/>
        </p:nvSpPr>
        <p:spPr>
          <a:xfrm>
            <a:off x="7772400" y="3657600"/>
            <a:ext cx="777300" cy="183000"/>
          </a:xfrm>
          <a:prstGeom prst="rect">
            <a:avLst/>
          </a:prstGeom>
          <a:solidFill>
            <a:srgbClr val="F87171">
              <a:alpha val="10200"/>
            </a:srgbClr>
          </a:solidFill>
          <a:ln>
            <a:noFill/>
          </a:ln>
        </p:spPr>
        <p:txBody>
          <a:bodyPr anchorCtr="0" anchor="ctr" bIns="34025" lIns="68050" spcFirstLastPara="1" rIns="68050" wrap="square" tIns="34025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 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9,68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8b58a07beb_0_75"/>
          <p:cNvSpPr/>
          <p:nvPr/>
        </p:nvSpPr>
        <p:spPr>
          <a:xfrm>
            <a:off x="6126480" y="2743200"/>
            <a:ext cx="2560200" cy="5466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8b58a07beb_0_75"/>
          <p:cNvSpPr/>
          <p:nvPr/>
        </p:nvSpPr>
        <p:spPr>
          <a:xfrm>
            <a:off x="6266815" y="283464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MES ANT. (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'26)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8b58a07beb_0_75"/>
          <p:cNvSpPr/>
          <p:nvPr/>
        </p:nvSpPr>
        <p:spPr>
          <a:xfrm>
            <a:off x="6269355" y="3017520"/>
            <a:ext cx="1371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14.554,55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8b58a07beb_0_75"/>
          <p:cNvSpPr/>
          <p:nvPr/>
        </p:nvSpPr>
        <p:spPr>
          <a:xfrm>
            <a:off x="7775575" y="2926080"/>
            <a:ext cx="777300" cy="183000"/>
          </a:xfrm>
          <a:prstGeom prst="rect">
            <a:avLst/>
          </a:prstGeom>
          <a:solidFill>
            <a:srgbClr val="4ADE80">
              <a:alpha val="10196"/>
            </a:srgbClr>
          </a:solidFill>
          <a:ln>
            <a:noFill/>
          </a:ln>
        </p:spPr>
        <p:txBody>
          <a:bodyPr anchorCtr="0" anchor="ctr" bIns="34025" lIns="68050" spcFirstLastPara="1" rIns="68050" wrap="square" tIns="34025">
            <a:no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4,90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8b58a07beb_0_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807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365760"/>
            <a:ext cx="1725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ACTIVIDAD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" y="548650"/>
            <a:ext cx="767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SEÑALES </a:t>
            </a:r>
            <a:r>
              <a:rPr b="1"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DECRECEN</a:t>
            </a: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ARRAS </a:t>
            </a:r>
            <a:r>
              <a:rPr b="1"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CRECEN</a:t>
            </a:r>
            <a:endParaRPr b="0" i="0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" y="1147270"/>
            <a:ext cx="5166300" cy="3474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1234440"/>
            <a:ext cx="182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MÉTRICA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286000" y="1230725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MAR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.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383280" y="1230715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lang="en-US" sz="7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</a:t>
            </a: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.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0" y="1230715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VARIACIÓN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8640" y="1463040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Señalizaciones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48640" y="1645920"/>
            <a:ext cx="1233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Honorarios de Reserva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286000" y="146304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727.223,25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286000" y="1645920"/>
            <a:ext cx="731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332962" y="1463050"/>
            <a:ext cx="78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702.023,30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383280" y="1645920"/>
            <a:ext cx="731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 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0" y="146304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85075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3,47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48640" y="1874520"/>
            <a:ext cx="128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Arras Firmadas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48640" y="2057400"/>
            <a:ext cx="1234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Compraventa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235600" y="1874525"/>
            <a:ext cx="78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464.065,36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286000" y="2057400"/>
            <a:ext cx="731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383280" y="187452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702.316,15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383280" y="2057400"/>
            <a:ext cx="731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572000" y="187452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85075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▲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8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60,85</a:t>
            </a:r>
            <a:r>
              <a:rPr b="1" i="0" lang="en-US" sz="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48640" y="2286000"/>
            <a:ext cx="128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Contratos de Alquiler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48640" y="2468880"/>
            <a:ext cx="1234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Intermediación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286000" y="228600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27.429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286000" y="2468880"/>
            <a:ext cx="731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383280" y="228600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22.725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383280" y="2468880"/>
            <a:ext cx="731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oboto"/>
              <a:buNone/>
            </a:pPr>
            <a:r>
              <a:rPr b="1"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7 </a:t>
            </a:r>
            <a:r>
              <a:rPr b="1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ops</a:t>
            </a:r>
            <a:endParaRPr b="0" i="0" sz="7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40080" y="3017520"/>
            <a:ext cx="22860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31520" y="3063240"/>
            <a:ext cx="1644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 PENDIENTE (VENTA)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822960" y="3383280"/>
            <a:ext cx="116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809.526,00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31520" y="3703320"/>
            <a:ext cx="148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 · Visibilidad Q1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108960" y="3017520"/>
            <a:ext cx="2286000" cy="91440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200400" y="3063240"/>
            <a:ext cx="139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COBROS PENDIENTES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3291840" y="3383280"/>
            <a:ext cx="100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289.722,65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3200400" y="3703320"/>
            <a:ext cx="1197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Gestión activa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4" name="Google Shape;164;p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500" y="1413725"/>
            <a:ext cx="3514049" cy="21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4572000" y="226314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85075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,15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800" u="none" cap="none" strike="noStrike">
              <a:solidFill>
                <a:srgbClr val="F8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1" name="Google Shape;171;g38710f5d106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8710f5d106_0_12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8710f5d106_0_12"/>
          <p:cNvSpPr/>
          <p:nvPr/>
        </p:nvSpPr>
        <p:spPr>
          <a:xfrm>
            <a:off x="457200" y="365760"/>
            <a:ext cx="2976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RESUMEN DE KPIS CLAVE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8710f5d106_0_12"/>
          <p:cNvSpPr/>
          <p:nvPr/>
        </p:nvSpPr>
        <p:spPr>
          <a:xfrm>
            <a:off x="457200" y="550075"/>
            <a:ext cx="581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PIPELINE: OPERACIONES EN CURSO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g38710f5d106_0_12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8710f5d106_0_12"/>
          <p:cNvSpPr/>
          <p:nvPr/>
        </p:nvSpPr>
        <p:spPr>
          <a:xfrm>
            <a:off x="457200" y="2019819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8710f5d106_0_12"/>
          <p:cNvSpPr/>
          <p:nvPr/>
        </p:nvSpPr>
        <p:spPr>
          <a:xfrm>
            <a:off x="457200" y="2663472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809.526</a:t>
            </a:r>
            <a:r>
              <a:rPr b="1" i="0" lang="en-US" sz="2400" u="none" cap="none" strike="noStrike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rgbClr val="6D9E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8710f5d106_0_12"/>
          <p:cNvSpPr/>
          <p:nvPr/>
        </p:nvSpPr>
        <p:spPr>
          <a:xfrm>
            <a:off x="548640" y="2389152"/>
            <a:ext cx="137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PENDIENTES DE VENTA</a:t>
            </a:r>
            <a:endParaRPr b="0" i="0" sz="700" u="none" cap="none" strike="noStrike">
              <a:solidFill>
                <a:srgbClr val="6D9E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8710f5d106_0_12"/>
          <p:cNvSpPr/>
          <p:nvPr/>
        </p:nvSpPr>
        <p:spPr>
          <a:xfrm>
            <a:off x="3291840" y="2019819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710f5d106_0_12"/>
          <p:cNvSpPr/>
          <p:nvPr/>
        </p:nvSpPr>
        <p:spPr>
          <a:xfrm>
            <a:off x="3383280" y="2389152"/>
            <a:ext cx="137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ARRAS CONDICIONADAS</a:t>
            </a:r>
            <a:endParaRPr b="0" i="0" sz="7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8710f5d106_0_12"/>
          <p:cNvSpPr/>
          <p:nvPr/>
        </p:nvSpPr>
        <p:spPr>
          <a:xfrm>
            <a:off x="3291840" y="2663472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135.855</a:t>
            </a:r>
            <a:r>
              <a:rPr b="1" i="0" lang="en-US" sz="2400" u="none" cap="none" strike="noStrike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8710f5d106_0_12"/>
          <p:cNvSpPr/>
          <p:nvPr/>
        </p:nvSpPr>
        <p:spPr>
          <a:xfrm>
            <a:off x="6126480" y="2019819"/>
            <a:ext cx="2560200" cy="1371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8710f5d106_0_12"/>
          <p:cNvSpPr/>
          <p:nvPr/>
        </p:nvSpPr>
        <p:spPr>
          <a:xfrm>
            <a:off x="6217920" y="2389152"/>
            <a:ext cx="137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D5A6BD"/>
                </a:solidFill>
                <a:latin typeface="Inter"/>
                <a:ea typeface="Inter"/>
                <a:cs typeface="Inter"/>
                <a:sym typeface="Inter"/>
              </a:rPr>
              <a:t>COBROS PENDIENTES</a:t>
            </a:r>
            <a:endParaRPr b="0" i="0" sz="700" u="none" cap="none" strike="noStrike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8710f5d106_0_12"/>
          <p:cNvSpPr/>
          <p:nvPr/>
        </p:nvSpPr>
        <p:spPr>
          <a:xfrm>
            <a:off x="6126480" y="2663472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D5A6BD"/>
                </a:solidFill>
                <a:latin typeface="Inter"/>
                <a:ea typeface="Inter"/>
                <a:cs typeface="Inter"/>
                <a:sym typeface="Inter"/>
              </a:rPr>
              <a:t>289.722,65</a:t>
            </a:r>
            <a:r>
              <a:rPr b="1" i="0" lang="en-US" sz="2400" u="none" cap="none" strike="noStrike">
                <a:solidFill>
                  <a:srgbClr val="D5A6BD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400" u="none" cap="none" strike="noStrike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g38710f5d106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2114832"/>
            <a:ext cx="192875" cy="157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g38710f5d106_0_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7840" y="2114832"/>
            <a:ext cx="192875" cy="1753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8710f5d106_0_12"/>
          <p:cNvSpPr/>
          <p:nvPr/>
        </p:nvSpPr>
        <p:spPr>
          <a:xfrm>
            <a:off x="2011680" y="2389152"/>
            <a:ext cx="914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r>
              <a:rPr b="0" i="0" lang="en-US" sz="700" u="none" cap="none" strike="noStrike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700" u="none" cap="none" strike="noStrike">
              <a:solidFill>
                <a:srgbClr val="6D9E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8710f5d106_0_12"/>
          <p:cNvSpPr/>
          <p:nvPr/>
        </p:nvSpPr>
        <p:spPr>
          <a:xfrm>
            <a:off x="4846320" y="2389152"/>
            <a:ext cx="914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0" i="0" lang="en-US" sz="700" u="none" cap="none" strike="noStrike">
                <a:solidFill>
                  <a:srgbClr val="F1C232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7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8710f5d106_0_12"/>
          <p:cNvSpPr/>
          <p:nvPr/>
        </p:nvSpPr>
        <p:spPr>
          <a:xfrm>
            <a:off x="7680960" y="2389152"/>
            <a:ext cx="914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D5A6BD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r>
              <a:rPr b="0" i="0" lang="en-US" sz="700" u="none" cap="none" strike="noStrike">
                <a:solidFill>
                  <a:srgbClr val="D5A6BD"/>
                </a:solidFill>
                <a:latin typeface="Inter"/>
                <a:ea typeface="Inter"/>
                <a:cs typeface="Inter"/>
                <a:sym typeface="Inter"/>
              </a:rPr>
              <a:t> OPERACIONES</a:t>
            </a:r>
            <a:endParaRPr b="0" i="0" sz="700" u="none" cap="none" strike="noStrike">
              <a:solidFill>
                <a:srgbClr val="D5A6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8710f5d106_0_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5a2407b19_0_5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5a2407b19_0_5"/>
          <p:cNvSpPr/>
          <p:nvPr/>
        </p:nvSpPr>
        <p:spPr>
          <a:xfrm>
            <a:off x="457200" y="365760"/>
            <a:ext cx="1725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ACTIVIDAD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5a2407b19_0_5"/>
          <p:cNvSpPr/>
          <p:nvPr/>
        </p:nvSpPr>
        <p:spPr>
          <a:xfrm>
            <a:off x="457200" y="548640"/>
            <a:ext cx="713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CALENDARIO DE LIQUIDEZ: REALIDAD TEMPORAL DEL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5a2407b19_0_5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5a2407b19_0_5"/>
          <p:cNvSpPr/>
          <p:nvPr/>
        </p:nvSpPr>
        <p:spPr>
          <a:xfrm>
            <a:off x="457203" y="13716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Aunque contamos con un pipeline sólido de 1</a:t>
            </a: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.235.103,65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€, es vital ajustar las previsiones de tesorería: el </a:t>
            </a: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51,32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 de nuestra cartera corresponde a ingresos diferidos (Q3 y 2027)."</a:t>
            </a:r>
            <a:endParaRPr b="0"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g3d5a2407b19_0_5"/>
          <p:cNvSpPr/>
          <p:nvPr/>
        </p:nvSpPr>
        <p:spPr>
          <a:xfrm>
            <a:off x="5943600" y="1051560"/>
            <a:ext cx="2743200" cy="1188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d5a2407b19_0_5"/>
          <p:cNvSpPr/>
          <p:nvPr/>
        </p:nvSpPr>
        <p:spPr>
          <a:xfrm>
            <a:off x="6126480" y="1188720"/>
            <a:ext cx="201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Liquidez real esperada a CORTO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5a2407b19_0_5"/>
          <p:cNvSpPr/>
          <p:nvPr/>
        </p:nvSpPr>
        <p:spPr>
          <a:xfrm>
            <a:off x="6126480" y="1417320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Operaciones pendientes de firma y arras condicionadas. </a:t>
            </a:r>
            <a:b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Foco absoluto del equipo administrativo y notarial para cerrar estos cobros en Q2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d5a2407b19_0_5"/>
          <p:cNvSpPr/>
          <p:nvPr/>
        </p:nvSpPr>
        <p:spPr>
          <a:xfrm>
            <a:off x="5943625" y="2377440"/>
            <a:ext cx="2743200" cy="1188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5a2407b19_0_5"/>
          <p:cNvSpPr/>
          <p:nvPr/>
        </p:nvSpPr>
        <p:spPr>
          <a:xfrm>
            <a:off x="6126505" y="2514600"/>
            <a:ext cx="201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Liquidez real esperada a MEDIO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5a2407b19_0_5"/>
          <p:cNvSpPr/>
          <p:nvPr/>
        </p:nvSpPr>
        <p:spPr>
          <a:xfrm>
            <a:off x="6126505" y="2743200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Operaciones reservadas  pero sin impacto en caja hasta verano (proyectos de obra nueva). </a:t>
            </a:r>
            <a:b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Ingresos asegurados para el Q3, pero no computables para la tesorería actual.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5a2407b19_0_5"/>
          <p:cNvSpPr/>
          <p:nvPr/>
        </p:nvSpPr>
        <p:spPr>
          <a:xfrm>
            <a:off x="5943650" y="3703320"/>
            <a:ext cx="2743200" cy="11886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5a2407b19_0_5"/>
          <p:cNvSpPr/>
          <p:nvPr/>
        </p:nvSpPr>
        <p:spPr>
          <a:xfrm>
            <a:off x="6126530" y="3840480"/>
            <a:ext cx="201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Liquidez real esperada a LARGO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5a2407b19_0_5"/>
          <p:cNvSpPr/>
          <p:nvPr/>
        </p:nvSpPr>
        <p:spPr>
          <a:xfrm>
            <a:off x="6126530" y="4069080"/>
            <a:ext cx="2377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 diferido a 2027 por la operación de la Calle Santa Bárbara.</a:t>
            </a:r>
            <a:b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Acción</a:t>
            </a: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Excluir de las previsiones operativas de 2026.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g3d5a2407b19_0_5" title="Gráfico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086625"/>
            <a:ext cx="5120951" cy="25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d5a2407b19_0_5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5" y="1934100"/>
            <a:ext cx="5070900" cy="30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6" name="Google Shape;2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57200" y="365760"/>
            <a:ext cx="3059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CUENTA DE RESULTADOS: OPERATIVA VS.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57200" y="550075"/>
            <a:ext cx="405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ANÁLISIS DE RENTABILIDAD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7200" y="1280160"/>
            <a:ext cx="3929100" cy="3474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42957" y="1463040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RENTABILIDAD OPERATIVA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3975497" y="1463040"/>
            <a:ext cx="16787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/>
          <p:nvPr/>
        </p:nvSpPr>
        <p:spPr>
          <a:xfrm>
            <a:off x="734374" y="210312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Totales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291840" y="210312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581.352,52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31520" y="23774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Coste Asesores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3291840" y="2377440"/>
            <a:ext cx="73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224.180,40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731520" y="26060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Fijos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291840" y="2606040"/>
            <a:ext cx="73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-1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57.741,87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731520" y="28346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Variables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291840" y="283464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9.759,20 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34393" y="306324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Costes Programadores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291840" y="306324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7.945,45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42957" y="39776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40075" y="4206250"/>
            <a:ext cx="229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Inter"/>
              <a:buNone/>
            </a:pPr>
            <a:r>
              <a:rPr b="1" lang="en-US" sz="2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181.725,60</a:t>
            </a:r>
            <a:r>
              <a:rPr b="1" i="0" lang="en-US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108960" y="429768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Inter"/>
              <a:buNone/>
            </a:pPr>
            <a:r>
              <a:rPr b="1" lang="en-US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31,26</a:t>
            </a:r>
            <a:r>
              <a:rPr b="1" i="0" lang="en-US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754880" y="1280160"/>
            <a:ext cx="3929100" cy="3474600"/>
          </a:xfrm>
          <a:prstGeom prst="rect">
            <a:avLst/>
          </a:prstGeom>
          <a:solidFill>
            <a:srgbClr val="0B1F4B">
              <a:alpha val="0"/>
            </a:srgbClr>
          </a:solidFill>
          <a:ln cap="flat" cmpd="sng" w="1827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937760" y="1737360"/>
            <a:ext cx="3566100" cy="7200"/>
          </a:xfrm>
          <a:prstGeom prst="rect">
            <a:avLst/>
          </a:prstGeom>
          <a:solidFill>
            <a:srgbClr val="EFE5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937760" y="1463040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RENTABILIDAD REAL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5320" y="1463040"/>
            <a:ext cx="13573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/>
          <p:nvPr/>
        </p:nvSpPr>
        <p:spPr>
          <a:xfrm>
            <a:off x="5029200" y="2377440"/>
            <a:ext cx="1524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Operativos</a:t>
            </a:r>
            <a:endParaRPr b="1" i="0" sz="800" u="none" cap="none" strike="noStrike">
              <a:solidFill>
                <a:srgbClr val="F871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589520" y="260604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48.614,58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 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029200" y="2606040"/>
            <a:ext cx="107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(-) GASTOS EXTRA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494151" y="2377450"/>
            <a:ext cx="82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-</a:t>
            </a:r>
            <a:r>
              <a:rPr b="1" lang="en-US" sz="800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399.626,92</a:t>
            </a: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937760" y="3843338"/>
            <a:ext cx="3566100" cy="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974336" y="39776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RESULTADO NETO 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933225" y="420625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800"/>
              <a:buFont typeface="Inter"/>
              <a:buNone/>
            </a:pPr>
            <a:r>
              <a:rPr b="1" lang="en-US" sz="2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133.111,02</a:t>
            </a:r>
            <a:r>
              <a:rPr b="1" i="0" lang="en-US" sz="2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28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406640" y="429768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Inter"/>
              <a:buNone/>
            </a:pPr>
            <a:r>
              <a:rPr b="1" lang="en-US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22,90</a:t>
            </a:r>
            <a:r>
              <a:rPr b="1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029200" y="2103120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Ingresos Totales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589520" y="210312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581.352,52</a:t>
            </a: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" y="365760"/>
            <a:ext cx="328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ANÁLISIS DE BREAK EVEN Y OBJETIVOS DE MARGEN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57200" y="550075"/>
            <a:ext cx="7316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DE FACTURACIÓN: ESCENARIOS DE RENTABILIDAD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57200" y="1554480"/>
            <a:ext cx="396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ESCENARIO OPERATIVO (SIN EXTRAS)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750594" y="1554480"/>
            <a:ext cx="396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ESCENARIO REAL (CON EXTRAS)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57200" y="1100763"/>
            <a:ext cx="8229600" cy="3660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6300" y="3717800"/>
            <a:ext cx="8259000" cy="11046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La rentabilidad real consolidada alcanza un excelente 22,90%, superando el objetivo corporativo. Sin embargo, en el escenario real simulado de facturación necesaria, el margen del 20% exige un volumen ligeramente superior debido a las provisiones comerciales devengadas que se regularizarán en caja durante el mes de mayo. 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67" name="Google Shape;267;p7"/>
          <p:cNvGraphicFramePr/>
          <p:nvPr/>
        </p:nvGraphicFramePr>
        <p:xfrm>
          <a:off x="2113200" y="117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{75A639FB-1131-4DEB-BC08-4E5E8BF19750}</a:tableStyleId>
              </a:tblPr>
              <a:tblGrid>
                <a:gridCol w="2664800"/>
                <a:gridCol w="927400"/>
              </a:tblGrid>
              <a:tr h="209550">
                <a:tc gridSpan="2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ESCENARIO OPERATIVO (SIN EXTRAS)</a:t>
                      </a:r>
                      <a:endParaRPr b="1" sz="10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7:0:0"/>
                      </a:ext>
                    </a:extLst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68" name="Google Shape;268;p7"/>
          <p:cNvGraphicFramePr/>
          <p:nvPr/>
        </p:nvGraphicFramePr>
        <p:xfrm>
          <a:off x="457200" y="212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{75A639FB-1131-4DEB-BC08-4E5E8BF19750}</a:tableStyleId>
              </a:tblPr>
              <a:tblGrid>
                <a:gridCol w="1023800"/>
                <a:gridCol w="1476725"/>
                <a:gridCol w="568600"/>
                <a:gridCol w="544450"/>
                <a:gridCol w="679825"/>
                <a:gridCol w="1058100"/>
                <a:gridCol w="1511100"/>
                <a:gridCol w="542700"/>
                <a:gridCol w="535800"/>
              </a:tblGrid>
              <a:tr h="23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Even (0%)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307.801 €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Even (0%)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393.090 €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0:7"/>
                      </a:ext>
                    </a:extLst>
                  </a:tcPr>
                </a:tc>
                <a:tc hMerge="1"/>
              </a:tr>
              <a:tr h="23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10%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373.290 €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10%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476.726 €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6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1:7"/>
                      </a:ext>
                    </a:extLst>
                  </a:tcPr>
                </a:tc>
                <a:tc hMerge="1"/>
              </a:tr>
              <a:tr h="23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20%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474.180 €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1"/>
                      </a:ext>
                    </a:extLs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✓SUPERADO</a:t>
                      </a:r>
                      <a:endParaRPr sz="700">
                        <a:solidFill>
                          <a:srgbClr val="4ADE8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2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20%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605.571 €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24.218 €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2:8"/>
                      </a:ext>
                    </a:extLst>
                  </a:tcPr>
                </a:tc>
              </a:tr>
              <a:tr h="23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30%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649.802 €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68.449 €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30%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829.856 €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248.503 €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3:8"/>
                      </a:ext>
                    </a:extLst>
                  </a:tcPr>
                </a:tc>
              </a:tr>
              <a:tr h="23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40%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1.032.038 €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450.686 €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Margen 40%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1.318.006 €</a:t>
                      </a:r>
                      <a:endParaRPr sz="7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FALTAN: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736.654 €</a:t>
                      </a:r>
                      <a:endParaRPr sz="700">
                        <a:solidFill>
                          <a:srgbClr val="F8717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4:8"/>
                      </a:ext>
                    </a:extLst>
                  </a:tcPr>
                </a:tc>
              </a:tr>
              <a:tr h="23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268:5:8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5a2407b19_0_28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d5a2407b19_0_28"/>
          <p:cNvSpPr/>
          <p:nvPr/>
        </p:nvSpPr>
        <p:spPr>
          <a:xfrm>
            <a:off x="457200" y="365760"/>
            <a:ext cx="5193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584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OBJETIVOS FINANCIEROS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d5a2407b19_0_28"/>
          <p:cNvSpPr/>
          <p:nvPr/>
        </p:nvSpPr>
        <p:spPr>
          <a:xfrm>
            <a:off x="457200" y="548640"/>
            <a:ext cx="740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4"/>
              <a:buFont typeface="Inter"/>
              <a:buNone/>
            </a:pPr>
            <a:r>
              <a:rPr b="1" i="0" lang="en-US" sz="150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ESTIMACIÓN DE BREAK EVEN Y OBJETIVOS DE FACTURACIÓN PARA </a:t>
            </a:r>
            <a:r>
              <a:rPr b="1" lang="en-US" sz="150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MAYO</a:t>
            </a:r>
            <a:endParaRPr b="0" i="0" sz="15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d5a2407b19_0_28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INFORME CEO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5a2407b19_0_28"/>
          <p:cNvSpPr/>
          <p:nvPr/>
        </p:nvSpPr>
        <p:spPr>
          <a:xfrm>
            <a:off x="54864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d5a2407b19_0_28"/>
          <p:cNvSpPr/>
          <p:nvPr/>
        </p:nvSpPr>
        <p:spPr>
          <a:xfrm>
            <a:off x="219456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FACTURACIÓN NECESARIA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d5a2407b19_0_28"/>
          <p:cNvSpPr/>
          <p:nvPr/>
        </p:nvSpPr>
        <p:spPr>
          <a:xfrm>
            <a:off x="3840480" y="1236345"/>
            <a:ext cx="16458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NIVEL DE EXITO</a:t>
            </a:r>
            <a:endParaRPr b="0" i="0" sz="900" u="none" cap="none" strike="noStrike">
              <a:solidFill>
                <a:srgbClr val="C9A84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d5a2407b19_0_28"/>
          <p:cNvSpPr/>
          <p:nvPr/>
        </p:nvSpPr>
        <p:spPr>
          <a:xfrm>
            <a:off x="548640" y="155638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Break Even (0%)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5a2407b19_0_28"/>
          <p:cNvSpPr/>
          <p:nvPr/>
        </p:nvSpPr>
        <p:spPr>
          <a:xfrm>
            <a:off x="2651760" y="155638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322.928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d5a2407b19_0_28"/>
          <p:cNvSpPr/>
          <p:nvPr/>
        </p:nvSpPr>
        <p:spPr>
          <a:xfrm>
            <a:off x="548640" y="196786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Margen 10%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d5a2407b19_0_28"/>
          <p:cNvSpPr/>
          <p:nvPr/>
        </p:nvSpPr>
        <p:spPr>
          <a:xfrm>
            <a:off x="2651760" y="196786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391.636 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d5a2407b19_0_28"/>
          <p:cNvSpPr/>
          <p:nvPr/>
        </p:nvSpPr>
        <p:spPr>
          <a:xfrm>
            <a:off x="548640" y="2379345"/>
            <a:ext cx="151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Margen 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d5a2407b19_0_28"/>
          <p:cNvSpPr/>
          <p:nvPr/>
        </p:nvSpPr>
        <p:spPr>
          <a:xfrm>
            <a:off x="2651760" y="237934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497.484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d5a2407b19_0_28"/>
          <p:cNvSpPr/>
          <p:nvPr/>
        </p:nvSpPr>
        <p:spPr>
          <a:xfrm>
            <a:off x="5878818" y="2439948"/>
            <a:ext cx="0" cy="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5a2407b19_0_28"/>
          <p:cNvSpPr/>
          <p:nvPr/>
        </p:nvSpPr>
        <p:spPr>
          <a:xfrm>
            <a:off x="548640" y="2790825"/>
            <a:ext cx="94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Margen 30%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5a2407b19_0_28"/>
          <p:cNvSpPr/>
          <p:nvPr/>
        </p:nvSpPr>
        <p:spPr>
          <a:xfrm>
            <a:off x="2651760" y="2790825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681.737 </a:t>
            </a: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d5a2407b19_0_28"/>
          <p:cNvSpPr/>
          <p:nvPr/>
        </p:nvSpPr>
        <p:spPr>
          <a:xfrm>
            <a:off x="7206258" y="4330898"/>
            <a:ext cx="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Font typeface="Calibri"/>
              <a:buNone/>
            </a:pPr>
            <a:r>
              <a:t/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d5a2407b19_0_28"/>
          <p:cNvSpPr/>
          <p:nvPr/>
        </p:nvSpPr>
        <p:spPr>
          <a:xfrm>
            <a:off x="4572000" y="155638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SUPERVIVENCIA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d5a2407b19_0_28"/>
          <p:cNvSpPr/>
          <p:nvPr/>
        </p:nvSpPr>
        <p:spPr>
          <a:xfrm>
            <a:off x="4572000" y="196786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5a2407b19_0_28"/>
          <p:cNvSpPr/>
          <p:nvPr/>
        </p:nvSpPr>
        <p:spPr>
          <a:xfrm>
            <a:off x="4572000" y="237934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ÓPTIMO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d5a2407b19_0_28"/>
          <p:cNvSpPr/>
          <p:nvPr/>
        </p:nvSpPr>
        <p:spPr>
          <a:xfrm>
            <a:off x="4572000" y="2790825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0" spcFirstLastPara="1" rIns="0" wrap="square" tIns="17005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g3d5a2407b19_0_28"/>
          <p:cNvCxnSpPr/>
          <p:nvPr/>
        </p:nvCxnSpPr>
        <p:spPr>
          <a:xfrm flipH="1" rot="10800000">
            <a:off x="455347" y="151066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g3d5a2407b19_0_28"/>
          <p:cNvCxnSpPr/>
          <p:nvPr/>
        </p:nvCxnSpPr>
        <p:spPr>
          <a:xfrm flipH="1" rot="10800000">
            <a:off x="455347" y="192214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7" name="Google Shape;297;g3d5a2407b19_0_28"/>
          <p:cNvCxnSpPr/>
          <p:nvPr/>
        </p:nvCxnSpPr>
        <p:spPr>
          <a:xfrm flipH="1" rot="10800000">
            <a:off x="455347" y="233362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8" name="Google Shape;298;g3d5a2407b19_0_28"/>
          <p:cNvCxnSpPr/>
          <p:nvPr/>
        </p:nvCxnSpPr>
        <p:spPr>
          <a:xfrm flipH="1" rot="10800000">
            <a:off x="455347" y="2745105"/>
            <a:ext cx="5120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99" name="Google Shape;299;g3d5a2407b19_0_28"/>
          <p:cNvSpPr/>
          <p:nvPr/>
        </p:nvSpPr>
        <p:spPr>
          <a:xfrm>
            <a:off x="457200" y="3334250"/>
            <a:ext cx="8229600" cy="1712400"/>
          </a:xfrm>
          <a:prstGeom prst="rect">
            <a:avLst/>
          </a:prstGeom>
          <a:solidFill>
            <a:srgbClr val="FFFFFF">
              <a:alpha val="5098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i="0" lang="en-US" sz="10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EL CAMINO HACIA EL 20% ESTÁ EN EL PIPELINE ACTUAL</a:t>
            </a:r>
            <a:endParaRPr b="1" i="0" sz="1000" u="none" cap="none" strike="noStrike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alcanzar el objetivo de rentabilidad (20%) en mayo, necesitamos facturar 497.484 €.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El Break-Even global será superior al de abril. Se estima que tanto los gastos fijos como variables de ambas sedes se incrementen por mayor gasto en publicidad, salarios de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personal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 operaciones vinculadas (Notas Simples)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sz="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50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b="1"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Solo con la agilidad administrativa para cerrar lo ya captado, cubrimos holgadamente el objetivo estratégico pero debemos continuar con la parte comercial para garantizar el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éxito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en 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próximos meses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g3d5a2407b19_0_28"/>
          <p:cNvSpPr/>
          <p:nvPr/>
        </p:nvSpPr>
        <p:spPr>
          <a:xfrm>
            <a:off x="5943600" y="1097280"/>
            <a:ext cx="2743200" cy="21030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2875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▲ ESCENARIOS </a:t>
            </a:r>
            <a:r>
              <a:rPr b="1" lang="en-US" sz="12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MAYO</a:t>
            </a:r>
            <a:endParaRPr b="1" i="0" sz="1200" u="none" cap="none" strike="noStrike">
              <a:solidFill>
                <a:srgbClr val="C9A84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 prevén incrementos en los gastos fijos y variables</a:t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t/>
            </a:r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Esperamos un incremento en las ventas por facturas pendientes de cobro y nuevas ventas, especialmente en la sede de Alicante. </a:t>
            </a:r>
            <a:endParaRPr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/>
          <p:nvPr/>
        </p:nvSpPr>
        <p:spPr>
          <a:xfrm>
            <a:off x="457200" y="1280160"/>
            <a:ext cx="3200400" cy="3474600"/>
          </a:xfrm>
          <a:prstGeom prst="rect">
            <a:avLst/>
          </a:prstGeom>
          <a:solidFill>
            <a:srgbClr val="FFFFFF">
              <a:alpha val="3137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/>
          <p:nvPr/>
        </p:nvSpPr>
        <p:spPr>
          <a:xfrm>
            <a:off x="457200" y="914400"/>
            <a:ext cx="82296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7200" y="365760"/>
            <a:ext cx="179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PLAN DE ACCIÓN MENSUAL</a:t>
            </a:r>
            <a:endParaRPr b="0"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" y="550074"/>
            <a:ext cx="583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SEMÁFORO ESTRATÉGICO Y PRIORIDADES</a:t>
            </a:r>
            <a:endParaRPr b="0"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772400" y="64008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lang="en-US" sz="800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ABRIL </a:t>
            </a: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642938" y="1417320"/>
            <a:ext cx="1467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INDICADORES CLAVE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35830" y="1874520"/>
            <a:ext cx="1835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Crecimiento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835827" y="2029968"/>
            <a:ext cx="1740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Señales 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-3,47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%, Arras 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+56,24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35831" y="2331720"/>
            <a:ext cx="162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Calidad de Venta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35825" y="2487168"/>
            <a:ext cx="2669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Ticket medio vs mes anterior +4,90% (15.267,74 €)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35834" y="2812020"/>
            <a:ext cx="1954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Aumento en Gasto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35825" y="2944375"/>
            <a:ext cx="25341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</a:pPr>
            <a:r>
              <a:rPr lang="en-US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Repunte en fijos por aumento de personal y de los extra</a:t>
            </a:r>
            <a:endParaRPr sz="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t/>
            </a:r>
            <a:endParaRPr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35832" y="3292295"/>
            <a:ext cx="162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Rentabilidad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35828" y="3447743"/>
            <a:ext cx="2094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22,90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%, objetivo del 20% cumplido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35834" y="3721608"/>
            <a:ext cx="1792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Riesgo Operativo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35828" y="3886200"/>
            <a:ext cx="22554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operaciones condicionadas (1</a:t>
            </a:r>
            <a:r>
              <a:rPr lang="en-US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35,8</a:t>
            </a:r>
            <a:r>
              <a:rPr b="0" i="0" lang="en-US" sz="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 €)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931920" y="1280160"/>
            <a:ext cx="2423100" cy="1508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114800" y="1143000"/>
            <a:ext cx="365700" cy="2286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114800" y="1554480"/>
            <a:ext cx="179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ACELERACIÓN DE COBROS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114800" y="1828800"/>
            <a:ext cx="21030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Asegurar la liquidación inmediata de los </a:t>
            </a:r>
            <a:r>
              <a:rPr b="1"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289.722 €</a:t>
            </a: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pendientes para consolidar la posición de tesorería del Q2 y garantizar la fluidez operativa.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537368" y="1280160"/>
            <a:ext cx="2148900" cy="15087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720840" y="1554480"/>
            <a:ext cx="1873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BLINDAJE DE CONDICIONADAS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720840" y="1828800"/>
            <a:ext cx="18288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Monitorización crítica de las 9 arras con cláusulas condicionadas (135.855 €). La proactividad en el cumplimiento de plazos es vital para evitar caídas y blindar el cierre.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931920" y="2971800"/>
            <a:ext cx="2423100" cy="18288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114800" y="3246120"/>
            <a:ext cx="174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CONVERSIÓN DEL PIPELINE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114800" y="3520440"/>
            <a:ext cx="21030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Acelerar la conversión a firma del pipeline inmediato (809.526 €). Dado que gran parte de la cartera total está diferida al Q3, la prioridad absoluta notarial debe ser el corto plazo.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537960" y="2971800"/>
            <a:ext cx="2148900" cy="182880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720840" y="3246120"/>
            <a:ext cx="166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CONTROL DE INVERSIÓN EXTRA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720840" y="3520440"/>
            <a:ext cx="18288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lang="en-US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Auditar y contener las desviaciones de gasto extra (reformas y viajes) registradas en abril para proteger el margen operativo y sostener nuestro objetivo de rentabilidad.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720840" y="1143000"/>
            <a:ext cx="365700" cy="2286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114800" y="2834640"/>
            <a:ext cx="365700" cy="2286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720850" y="2834640"/>
            <a:ext cx="365700" cy="228600"/>
          </a:xfrm>
          <a:prstGeom prst="rect">
            <a:avLst/>
          </a:prstGeom>
          <a:noFill/>
          <a:ln cap="flat" cmpd="sng" w="9525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sz="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26550" y="1919325"/>
            <a:ext cx="108600" cy="110400"/>
          </a:xfrm>
          <a:prstGeom prst="ellipse">
            <a:avLst/>
          </a:prstGeom>
          <a:solidFill>
            <a:srgbClr val="4DDB7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26550" y="2834650"/>
            <a:ext cx="108600" cy="110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26550" y="2376988"/>
            <a:ext cx="108600" cy="110400"/>
          </a:xfrm>
          <a:prstGeom prst="ellipse">
            <a:avLst/>
          </a:prstGeom>
          <a:solidFill>
            <a:srgbClr val="4DDB7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26550" y="3292288"/>
            <a:ext cx="108600" cy="110400"/>
          </a:xfrm>
          <a:prstGeom prst="ellipse">
            <a:avLst/>
          </a:prstGeom>
          <a:solidFill>
            <a:srgbClr val="4DDB7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26550" y="3749938"/>
            <a:ext cx="108600" cy="110400"/>
          </a:xfrm>
          <a:prstGeom prst="ellipse">
            <a:avLst/>
          </a:prstGeom>
          <a:solidFill>
            <a:srgbClr val="F8717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2026-03-12T14:39:49Z</dcterms:created>
  <dc:creator>PptxGenJS</dc:creator>
</cp:coreProperties>
</file>