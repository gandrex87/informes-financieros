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5143500" cy="9144000"/>
  <p:embeddedFontLst>
    <p:embeddedFont>
      <p:font typeface="Int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3sf9NgdKBzczQmuufxGYRG21aa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Paloma Má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2EEAA6-D22F-434F-8FDD-EF5870F0F564}">
  <a:tblStyle styleId="{DF2EEAA6-D22F-434F-8FDD-EF5870F0F56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Inter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11T11:09:16.581">
    <p:pos x="3139" y="1612"/>
    <p:text>MODIFICAR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6E2briA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566e6d624_0_0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d566e6d624_0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1.xml"/><Relationship Id="rId4" Type="http://schemas.openxmlformats.org/officeDocument/2006/relationships/image" Target="../media/image15.jp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571500" y="428625"/>
            <a:ext cx="1605558" cy="250031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C9A84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71500" y="428625"/>
            <a:ext cx="1605558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70050" spcFirstLastPara="1" rIns="170050" wrap="square" tIns="6805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CEO · CONFIDENCIAL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71500" y="1285875"/>
            <a:ext cx="800100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9"/>
              <a:buFont typeface="Inter"/>
              <a:buNone/>
            </a:pPr>
            <a:r>
              <a:rPr b="0" i="0" lang="en-US" sz="126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LION CAPITAL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71500" y="1635919"/>
            <a:ext cx="8001000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6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64"/>
              <a:buFont typeface="Inter"/>
              <a:buNone/>
            </a:pPr>
            <a:r>
              <a:rPr b="1" i="0" lang="en-US" sz="466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INFORME</a:t>
            </a:r>
            <a:endParaRPr b="0" i="0" sz="4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71500" y="2214563"/>
            <a:ext cx="8001000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6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64"/>
              <a:buFont typeface="Inter"/>
              <a:buNone/>
            </a:pPr>
            <a:r>
              <a:rPr b="1" i="0" lang="en-US" sz="466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FINANCIERO</a:t>
            </a:r>
            <a:endParaRPr b="0" i="0" sz="4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71500" y="2793206"/>
            <a:ext cx="8001000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627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4664"/>
              <a:buFont typeface="Inter"/>
              <a:buNone/>
            </a:pPr>
            <a:r>
              <a:rPr b="1" i="0" lang="en-US" sz="4664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MENSUAL</a:t>
            </a:r>
            <a:endParaRPr b="0" i="0" sz="4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8675" y="3514725"/>
            <a:ext cx="183415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SEDE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8675" y="3705820"/>
            <a:ext cx="183415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4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77"/>
              <a:buFont typeface="Inter"/>
              <a:buNone/>
            </a:pPr>
            <a:r>
              <a:rPr b="1" i="0" lang="en-US" sz="3077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Valencia</a:t>
            </a:r>
            <a:endParaRPr b="0" i="0" sz="30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71500" y="4277320"/>
            <a:ext cx="8001000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9"/>
              <a:buFont typeface="Inter"/>
              <a:buNone/>
            </a:pPr>
            <a:r>
              <a:rPr b="0" i="0" lang="en-US" sz="126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Informe de Resultados · </a:t>
            </a:r>
            <a:r>
              <a:rPr lang="en-US" sz="12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Abril</a:t>
            </a:r>
            <a:r>
              <a:rPr b="0" i="0" lang="en-US" sz="126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2026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71500" y="4602361"/>
            <a:ext cx="8001000" cy="25538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71500" y="4602361"/>
            <a:ext cx="8001000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71500" y="4752380"/>
            <a:ext cx="1603772" cy="105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Inter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Lion Capital Real Estate · Sede Valencia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929313" y="4752380"/>
            <a:ext cx="2643188" cy="105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Inter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Preparado por: Dpto. Financiero · Uso interno · Dirección General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365760"/>
            <a:ext cx="2976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SEDE VALENCIA · RESUMEN DE KPIS CLAVE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550075"/>
            <a:ext cx="48417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DASHBOARD EJECUTIVO: </a:t>
            </a:r>
            <a:r>
              <a:rPr b="1"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ABRIL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INFORME CEO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1188720"/>
            <a:ext cx="2560200" cy="1371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2651760" y="13258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640080" y="1325880"/>
            <a:ext cx="1647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PRODUCCIÓN (RESERVAS)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40075" y="1600200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541.038,68</a:t>
            </a: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40080" y="2240280"/>
            <a:ext cx="2262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Pagas y Señales (Venta + Alquiler)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291840" y="1188720"/>
            <a:ext cx="2560200" cy="1371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5486400" y="13269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3474720" y="1325880"/>
            <a:ext cx="15546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CIERRE (CONTRATOS FIRMADOS)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474726" y="1600200"/>
            <a:ext cx="2041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506.051,53</a:t>
            </a: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474725" y="1965950"/>
            <a:ext cx="17373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▲32,42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 vs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mes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anterior</a:t>
            </a:r>
            <a:endParaRPr b="0" i="0" sz="800" u="none" cap="none" strike="noStrike">
              <a:solidFill>
                <a:srgbClr val="4ADE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474720" y="2240280"/>
            <a:ext cx="2262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Contratos de Arras y Alquileres Firmados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126480" y="1188720"/>
            <a:ext cx="2560200" cy="1371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" name="Google Shape;48;p2"/>
          <p:cNvPicPr preferRelativeResize="0"/>
          <p:nvPr/>
        </p:nvPicPr>
        <p:blipFill rotWithShape="1">
          <a:blip r:embed="rId6">
            <a:alphaModFix amt="50000"/>
          </a:blip>
          <a:srcRect b="0" l="0" r="0" t="0"/>
          <a:stretch/>
        </p:blipFill>
        <p:spPr>
          <a:xfrm>
            <a:off x="8443885" y="1326952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6309360" y="1325880"/>
            <a:ext cx="118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FACTURACIÓN REAL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309348" y="1600200"/>
            <a:ext cx="2041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423.399,70</a:t>
            </a: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309346" y="1965951"/>
            <a:ext cx="18288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6,70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 vs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mes anterior</a:t>
            </a:r>
            <a:endParaRPr b="0" i="0" sz="800" u="none" cap="none" strike="noStrike">
              <a:solidFill>
                <a:srgbClr val="4ADE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309360" y="2240280"/>
            <a:ext cx="2262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Ingresos Contables Totales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7200" y="2743200"/>
            <a:ext cx="2560200" cy="914400"/>
          </a:xfrm>
          <a:prstGeom prst="rect">
            <a:avLst/>
          </a:prstGeom>
          <a:solidFill>
            <a:srgbClr val="0B1F4B">
              <a:alpha val="50196"/>
            </a:srgbClr>
          </a:solidFill>
          <a:ln cap="flat" cmpd="sng" w="9525">
            <a:solidFill>
              <a:srgbClr val="C9A84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40080" y="2926080"/>
            <a:ext cx="17787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EBITDA OPERATIVO (SIN EXTRAS)</a:t>
            </a:r>
            <a:endParaRPr b="1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40075" y="3200400"/>
            <a:ext cx="1464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127.301,21</a:t>
            </a: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2377440" y="3337560"/>
            <a:ext cx="457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30,07%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291840" y="2743200"/>
            <a:ext cx="2560200" cy="914400"/>
          </a:xfrm>
          <a:prstGeom prst="rect">
            <a:avLst/>
          </a:prstGeom>
          <a:solidFill>
            <a:srgbClr val="4ADE80">
              <a:alpha val="5098"/>
            </a:srgbClr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474720" y="2926080"/>
            <a:ext cx="1689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EBITDA NETO (CON EXTRAS)</a:t>
            </a:r>
            <a:endParaRPr b="1" i="0" sz="700" u="none" cap="none" strike="noStrike">
              <a:solidFill>
                <a:srgbClr val="4ADE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474726" y="3200400"/>
            <a:ext cx="1464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400"/>
              <a:buFont typeface="Inter"/>
              <a:buNone/>
            </a:pPr>
            <a:r>
              <a:rPr b="1" lang="en-US" sz="1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78.686,63</a:t>
            </a:r>
            <a:r>
              <a:rPr b="1" i="0" lang="en-US" sz="1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1800" u="none" cap="none" strike="noStrike">
              <a:solidFill>
                <a:srgbClr val="4ADE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212080" y="3337560"/>
            <a:ext cx="457200" cy="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18,58</a:t>
            </a:r>
            <a:r>
              <a:rPr b="0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800" u="none" cap="none" strike="noStrike">
              <a:solidFill>
                <a:srgbClr val="4ADE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126480" y="2743200"/>
            <a:ext cx="2560200" cy="914400"/>
          </a:xfrm>
          <a:prstGeom prst="rect">
            <a:avLst/>
          </a:prstGeom>
          <a:solidFill>
            <a:srgbClr val="0B1F4B">
              <a:alpha val="50196"/>
            </a:srgbClr>
          </a:solidFill>
          <a:ln cap="flat" cmpd="sng" w="9525">
            <a:solidFill>
              <a:srgbClr val="C9A84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309360" y="2926080"/>
            <a:ext cx="2205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PIPELINE + COBROS (VISIBILIDAD Q</a:t>
            </a:r>
            <a:r>
              <a:rPr b="1" lang="en-US" sz="7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1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309350" y="3154675"/>
            <a:ext cx="1647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lang="en-US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1.084.994,40</a:t>
            </a: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1" i="0" sz="16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309360" y="3429000"/>
            <a:ext cx="2395800" cy="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451.154,40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€ Liquidez Inmediata  +  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633.840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€ Diferido 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40080" y="1965960"/>
            <a:ext cx="1828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▼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-7,63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% vs 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mes anterior</a:t>
            </a:r>
            <a:endParaRPr b="0" i="0" sz="800" u="none" cap="none" strike="noStrike">
              <a:solidFill>
                <a:srgbClr val="F8717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57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7200" y="365760"/>
            <a:ext cx="3524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COMPARATIVA DE KPIS CLAVE VS. MES ANTERIOR Y AÑO ANTERIOR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57200" y="550075"/>
            <a:ext cx="5998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ANÁLISIS DE PRODUCCIÓN: EVOLUCIÓN HISTÓRICA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INFORME CEO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57200" y="1234440"/>
            <a:ext cx="2560200" cy="1188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57200" y="1225296"/>
            <a:ext cx="2560200" cy="28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57200" y="1462075"/>
            <a:ext cx="2560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RESERVAS (VENTA Y ALQUILER)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57200" y="1689508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541.038,68</a:t>
            </a: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2148840"/>
            <a:ext cx="2560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Operaciones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57200" y="2560320"/>
            <a:ext cx="2560200" cy="54660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94360" y="2696880"/>
            <a:ext cx="11190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MES ANT. (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'26)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94360" y="2834640"/>
            <a:ext cx="8160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585.719,70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103120" y="2743229"/>
            <a:ext cx="731400" cy="178500"/>
          </a:xfrm>
          <a:prstGeom prst="rect">
            <a:avLst/>
          </a:prstGeom>
          <a:solidFill>
            <a:srgbClr val="F87171">
              <a:alpha val="102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▼ -7,63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2000" u="none" cap="none" strike="noStrike">
              <a:solidFill>
                <a:srgbClr val="F8717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57200" y="3246120"/>
            <a:ext cx="2560200" cy="54660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94360" y="3383280"/>
            <a:ext cx="11190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AÑO ANT. (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ABR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'25)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94348" y="3520450"/>
            <a:ext cx="8160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359.135,49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291840" y="1234440"/>
            <a:ext cx="2560200" cy="1188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291840" y="1225296"/>
            <a:ext cx="2560200" cy="28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291840" y="1462075"/>
            <a:ext cx="2560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ARRAS Y CONTRATOS ALQUILER FDOS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291840" y="169164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506.051,53 </a:t>
            </a: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291840" y="2148840"/>
            <a:ext cx="2560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Operaciones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291840" y="2560320"/>
            <a:ext cx="2560200" cy="54660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F871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429000" y="2697480"/>
            <a:ext cx="11976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MES ANT. (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'26)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429000" y="2834640"/>
            <a:ext cx="8160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382.141,81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937760" y="2743200"/>
            <a:ext cx="731400" cy="178500"/>
          </a:xfrm>
          <a:prstGeom prst="rect">
            <a:avLst/>
          </a:prstGeom>
          <a:solidFill>
            <a:srgbClr val="1736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▲32,42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1" i="0" sz="800" u="none" cap="none" strike="noStrike">
              <a:solidFill>
                <a:srgbClr val="4ADE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291840" y="3246120"/>
            <a:ext cx="2560200" cy="54660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429000" y="3321810"/>
            <a:ext cx="12348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AÑO ANT. (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ABR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'25)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429000" y="3520450"/>
            <a:ext cx="10767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388.808,43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126480" y="1234440"/>
            <a:ext cx="2560200" cy="1188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126480" y="1225296"/>
            <a:ext cx="2560200" cy="28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126480" y="1463040"/>
            <a:ext cx="2560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TICKET MEDIO (VENTAS)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126480" y="169164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14.646,26</a:t>
            </a: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126480" y="2148840"/>
            <a:ext cx="2560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Honorarios por Op.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126480" y="2560320"/>
            <a:ext cx="2571900" cy="54660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263640" y="2696880"/>
            <a:ext cx="11190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MES ANT. (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'26)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263654" y="2834650"/>
            <a:ext cx="889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15.422,30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126480" y="3246120"/>
            <a:ext cx="2560200" cy="54660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263640" y="3383280"/>
            <a:ext cx="12348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AÑO ANT. (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ABR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'25)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263640" y="3520440"/>
            <a:ext cx="8160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16.904,71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2103120" y="3430179"/>
            <a:ext cx="731400" cy="178500"/>
          </a:xfrm>
          <a:prstGeom prst="rect">
            <a:avLst/>
          </a:prstGeom>
          <a:solidFill>
            <a:srgbClr val="4ADE80">
              <a:alpha val="10196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50,65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937745" y="3430179"/>
            <a:ext cx="731400" cy="178500"/>
          </a:xfrm>
          <a:prstGeom prst="rect">
            <a:avLst/>
          </a:prstGeom>
          <a:solidFill>
            <a:srgbClr val="4ADE80">
              <a:alpha val="10196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30,15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7772400" y="2743200"/>
            <a:ext cx="731400" cy="178500"/>
          </a:xfrm>
          <a:prstGeom prst="rect">
            <a:avLst/>
          </a:prstGeom>
          <a:solidFill>
            <a:srgbClr val="4ADE80">
              <a:alpha val="10196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▼ -5,03€</a:t>
            </a:r>
            <a:endParaRPr b="1" sz="800">
              <a:solidFill>
                <a:srgbClr val="4ADE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7772375" y="3430175"/>
            <a:ext cx="731400" cy="178500"/>
          </a:xfrm>
          <a:prstGeom prst="rect">
            <a:avLst/>
          </a:prstGeom>
          <a:solidFill>
            <a:srgbClr val="F87171">
              <a:alpha val="102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▼ 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-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26,30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2000" u="none" cap="none" strike="noStrike">
              <a:solidFill>
                <a:srgbClr val="F8717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457200" y="4025700"/>
            <a:ext cx="8229600" cy="822600"/>
          </a:xfrm>
          <a:prstGeom prst="rect">
            <a:avLst/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9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EVALUACIÓN</a:t>
            </a:r>
            <a:r>
              <a:rPr b="1" lang="en-US" sz="9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 EJECUTIVA</a:t>
            </a:r>
            <a:endParaRPr b="1" sz="900">
              <a:solidFill>
                <a:srgbClr val="C9A84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La sede de Valencia cierra un excelente mes traccionado por el gran volumen de arras firmadas (33 ventas frente a las 23 de marzo), impulsando la facturación un +6,70% (26.576 €). Este fuerte ritmo de cierres compensa sobradamente una leve y natural estabilización del ticket medio de venta (-5,03%). El foco prioritario actual es blindar la conversión del volumen de operaciones condicionadas para garantizar su impacto en caja. </a:t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457200" y="1147270"/>
            <a:ext cx="5166300" cy="35676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57200" y="365760"/>
            <a:ext cx="1725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ACTIVIDAD COMERCIAL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57200" y="548640"/>
            <a:ext cx="759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CAÍDA</a:t>
            </a: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EN SEÑALES Y</a:t>
            </a:r>
            <a:r>
              <a:rPr b="1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 TICKET MEDIO PERO CRECIMIENTO EN ARRAS F</a:t>
            </a:r>
            <a:r>
              <a:rPr b="1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IRMADAS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ABRIL </a:t>
            </a: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548640" y="1188720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MÉTRICA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2514600" y="118872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00"/>
              <a:buFont typeface="Inter"/>
              <a:buNone/>
            </a:pPr>
            <a:r>
              <a:rPr b="1" lang="en-US" sz="7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MAR</a:t>
            </a: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. 2026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566160" y="118872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00"/>
              <a:buFont typeface="Inter"/>
              <a:buNone/>
            </a:pPr>
            <a:r>
              <a:rPr b="1" lang="en-US" sz="7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ABR</a:t>
            </a: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. 2026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617720" y="118872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VARIACIÓN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48640" y="1463040"/>
            <a:ext cx="1280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Señalizaciones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48640" y="1645920"/>
            <a:ext cx="12339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(Venta + Alquiler)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2514600" y="146304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585.719,70</a:t>
            </a: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2514600" y="1645920"/>
            <a:ext cx="6402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60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501649" y="1463050"/>
            <a:ext cx="704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541.038,68</a:t>
            </a: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3566160" y="1645920"/>
            <a:ext cx="6402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617720" y="146304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▼ 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7,63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%</a:t>
            </a:r>
            <a:endParaRPr b="0" i="0" sz="800" u="none" cap="none" strike="noStrike">
              <a:solidFill>
                <a:srgbClr val="F871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548640" y="1920240"/>
            <a:ext cx="128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Arras Firmadas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2450100" y="1920250"/>
            <a:ext cx="704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354.712,93</a:t>
            </a: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2514600" y="2103120"/>
            <a:ext cx="6402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501649" y="1920250"/>
            <a:ext cx="704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483.326,53 </a:t>
            </a: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€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566160" y="2103120"/>
            <a:ext cx="6402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33 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617720" y="192024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36,26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%</a:t>
            </a:r>
            <a:endParaRPr b="0" i="0" sz="800" u="none" cap="none" strike="noStrike">
              <a:solidFill>
                <a:srgbClr val="4ADE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548640" y="2377440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Contratos de Alquiler Firmados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2450050" y="2377450"/>
            <a:ext cx="704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27.428,88</a:t>
            </a: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2514600" y="2560320"/>
            <a:ext cx="6402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3566160" y="237744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22.725,00</a:t>
            </a: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566160" y="2560320"/>
            <a:ext cx="6402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4617720" y="237744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▼ 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17,15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%</a:t>
            </a:r>
            <a:endParaRPr b="0" i="0" sz="800" u="none" cap="none" strike="noStrike">
              <a:solidFill>
                <a:srgbClr val="F871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548660" y="2924230"/>
            <a:ext cx="2377500" cy="9144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85820" y="3061390"/>
            <a:ext cx="16440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PIPELINE PENDIENTE (VENTA)</a:t>
            </a:r>
            <a:endParaRPr b="1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731540" y="3289990"/>
            <a:ext cx="1162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749.537,00</a:t>
            </a: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€</a:t>
            </a:r>
            <a:endParaRPr b="0"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85826" y="3610025"/>
            <a:ext cx="17250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35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operaciones · Visibilidad Q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 y Q3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3133635" y="2924230"/>
            <a:ext cx="2377500" cy="9144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3270795" y="3061390"/>
            <a:ext cx="13944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COBROS PENDIENTES</a:t>
            </a:r>
            <a:endParaRPr b="1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4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1125" y="1188725"/>
            <a:ext cx="3598550" cy="287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/>
          <p:nvPr/>
        </p:nvSpPr>
        <p:spPr>
          <a:xfrm>
            <a:off x="3316527" y="3290000"/>
            <a:ext cx="12339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lang="en-US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199.602,40</a:t>
            </a: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3270795" y="3610030"/>
            <a:ext cx="11979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Gestión activa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548650" y="3977650"/>
            <a:ext cx="8324100" cy="1012800"/>
          </a:xfrm>
          <a:prstGeom prst="rect">
            <a:avLst/>
          </a:prstGeom>
          <a:solidFill>
            <a:srgbClr val="FFFFFF">
              <a:alpha val="51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n-US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uerte caída en las reservas (en 44.681,02€ vs marzo) junto a un menor número de operaciones realizadas (-18 ops. ). El ticket medio no se ha visto perjudicado a pesar de cerrarse menos operaciones, mantenido un buen valor medio</a:t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El pipeline pendiente asciende a 749.537 €, cifra que incluye 600.090 € correspondientes a operaciones de obra nueva con previsión de impacto en caja para el Q3. </a:t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La comparativa intermensual e interanual nos vuelve a confirmar una tendencia al alza en este 2026, como ya se pudo ver en meses anteriores respecto a la operativa.</a:t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/>
          <p:nvPr/>
        </p:nvSpPr>
        <p:spPr>
          <a:xfrm>
            <a:off x="457200" y="365760"/>
            <a:ext cx="3333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LISTADO COMPLETO DE OPERACIONES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57200" y="548640"/>
            <a:ext cx="4592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PIPELINE DETALLADO: OPERACIONES EN CURSO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INFORME CEO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365760" y="914400"/>
            <a:ext cx="2011800" cy="40233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65760" y="905256"/>
            <a:ext cx="2011800" cy="273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005840"/>
            <a:ext cx="87511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/>
          <p:nvPr/>
        </p:nvSpPr>
        <p:spPr>
          <a:xfrm>
            <a:off x="594360" y="1005840"/>
            <a:ext cx="1673400" cy="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PENDIENTES ARRAS </a:t>
            </a:r>
            <a:endParaRPr b="1" i="0" sz="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2514600" y="913025"/>
            <a:ext cx="2011800" cy="40233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2514600" y="905256"/>
            <a:ext cx="2011800" cy="285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06040" y="1005840"/>
            <a:ext cx="87511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5"/>
          <p:cNvSpPr/>
          <p:nvPr/>
        </p:nvSpPr>
        <p:spPr>
          <a:xfrm>
            <a:off x="2743200" y="1001294"/>
            <a:ext cx="18654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</a:pPr>
            <a:r>
              <a:rPr b="1" i="0" lang="en-US" sz="6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PENDIENTES ARRAS DE OBRA NUEVA</a:t>
            </a:r>
            <a:endParaRPr b="0" i="0" sz="6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663440" y="914400"/>
            <a:ext cx="2011800" cy="40233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663440" y="905256"/>
            <a:ext cx="2011800" cy="285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4880" y="1005840"/>
            <a:ext cx="91440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5"/>
          <p:cNvSpPr/>
          <p:nvPr/>
        </p:nvSpPr>
        <p:spPr>
          <a:xfrm>
            <a:off x="4892040" y="1005840"/>
            <a:ext cx="13248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ARRAS CONDICIONADAS</a:t>
            </a:r>
            <a:endParaRPr b="1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6812275" y="914400"/>
            <a:ext cx="2011800" cy="40233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6812280" y="905256"/>
            <a:ext cx="2011800" cy="285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949440" y="1005840"/>
            <a:ext cx="12288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Inter"/>
              <a:buNone/>
            </a:pPr>
            <a:r>
              <a:rPr b="1" i="0" lang="en-US" sz="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PENDIENTES COBRAR</a:t>
            </a:r>
            <a:endParaRPr b="1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3" name="Google Shape;18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06040" y="3247821"/>
            <a:ext cx="87511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5"/>
          <p:cNvSpPr/>
          <p:nvPr/>
        </p:nvSpPr>
        <p:spPr>
          <a:xfrm>
            <a:off x="2743200" y="3243275"/>
            <a:ext cx="18654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</a:pPr>
            <a:r>
              <a:rPr b="1" i="0" lang="en-US" sz="6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PENDIENTES ALQUILER</a:t>
            </a:r>
            <a:endParaRPr b="0" i="0" sz="6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85" name="Google Shape;185;p5"/>
          <p:cNvGraphicFramePr/>
          <p:nvPr/>
        </p:nvGraphicFramePr>
        <p:xfrm>
          <a:off x="448100" y="116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{DF2EEAA6-D22F-434F-8FDD-EF5870F0F564}</a:tableStyleId>
              </a:tblPr>
              <a:tblGrid>
                <a:gridCol w="1096950"/>
                <a:gridCol w="695275"/>
              </a:tblGrid>
              <a:tr h="238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60A5F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144.107,00€</a:t>
                      </a:r>
                      <a:endParaRPr b="1" sz="1300">
                        <a:solidFill>
                          <a:srgbClr val="60A5F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0:1"/>
                      </a:ext>
                    </a:extLst>
                  </a:tcPr>
                </a:tc>
              </a:tr>
              <a:tr h="222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>
                          <a:solidFill>
                            <a:schemeClr val="lt1"/>
                          </a:solidFill>
                        </a:rPr>
                        <a:t>8 Operaciones</a:t>
                      </a:r>
                      <a:endParaRPr sz="600">
                        <a:solidFill>
                          <a:schemeClr val="lt1"/>
                        </a:solidFill>
                      </a:endParaRPr>
                    </a:p>
                  </a:txBody>
                  <a:tcPr marT="0" marB="0" marR="28575" marL="28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:1"/>
                      </a:ext>
                    </a:extLst>
                  </a:tcPr>
                </a:tc>
              </a:tr>
              <a:tr h="9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2:1"/>
                      </a:ext>
                    </a:extLst>
                  </a:tcPr>
                </a:tc>
              </a:tr>
              <a:tr h="175900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550,45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20.000,00 €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3:1"/>
                      </a:ext>
                    </a:extLst>
                  </a:tcPr>
                </a:tc>
              </a:tr>
              <a:tr h="175900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Obispo Amigo 9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40.300,00 €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4:1"/>
                      </a:ext>
                    </a:extLst>
                  </a:tcPr>
                </a:tc>
              </a:tr>
              <a:tr h="175900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Río Nervión 5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10.512,00 €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5:1"/>
                      </a:ext>
                    </a:extLst>
                  </a:tcPr>
                </a:tc>
              </a:tr>
              <a:tr h="175900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Isaac Albeñiz, D, 13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20.450,00 €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6:1"/>
                      </a:ext>
                    </a:extLst>
                  </a:tcPr>
                </a:tc>
              </a:tr>
              <a:tr h="175900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PL nº10 60(b)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12.397,00 €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7:1"/>
                      </a:ext>
                    </a:extLst>
                  </a:tcPr>
                </a:tc>
              </a:tr>
              <a:tr h="175900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C.San Vicente Martir 3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16.098,00 €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8:1"/>
                      </a:ext>
                    </a:extLst>
                  </a:tcPr>
                </a:tc>
              </a:tr>
              <a:tr h="175900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Timoneda 6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12.200,00 €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9:1"/>
                      </a:ext>
                    </a:extLst>
                  </a:tcPr>
                </a:tc>
              </a:tr>
              <a:tr h="175900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Vicente Raga 3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12.150,00 €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0:1"/>
                      </a:ext>
                    </a:extLst>
                  </a:tcPr>
                </a:tc>
              </a:tr>
              <a:tr h="175900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1:1"/>
                      </a:ext>
                    </a:extLst>
                  </a:tcPr>
                </a:tc>
              </a:tr>
              <a:tr h="175900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2:1"/>
                      </a:ext>
                    </a:extLst>
                  </a:tcPr>
                </a:tc>
              </a:tr>
              <a:tr h="175900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3:1"/>
                      </a:ext>
                    </a:extLst>
                  </a:tcPr>
                </a:tc>
              </a:tr>
              <a:tr h="175900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4:1"/>
                      </a:ext>
                    </a:extLst>
                  </a:tcPr>
                </a:tc>
              </a:tr>
              <a:tr h="175900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5:1"/>
                      </a:ext>
                    </a:extLst>
                  </a:tcPr>
                </a:tc>
              </a:tr>
              <a:tr h="175900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6:1"/>
                      </a:ext>
                    </a:extLst>
                  </a:tcPr>
                </a:tc>
              </a:tr>
              <a:tr h="175900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7:1"/>
                      </a:ext>
                    </a:extLst>
                  </a:tcPr>
                </a:tc>
              </a:tr>
              <a:tr h="175900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8:1"/>
                      </a:ext>
                    </a:extLst>
                  </a:tcPr>
                </a:tc>
              </a:tr>
              <a:tr h="175900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5:19:1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86" name="Google Shape;186;p5"/>
          <p:cNvGraphicFramePr/>
          <p:nvPr/>
        </p:nvGraphicFramePr>
        <p:xfrm>
          <a:off x="2624375" y="1149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{DF2EEAA6-D22F-434F-8FDD-EF5870F0F564}</a:tableStyleId>
              </a:tblPr>
              <a:tblGrid>
                <a:gridCol w="1257050"/>
                <a:gridCol w="535175"/>
              </a:tblGrid>
              <a:tr h="24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60A5F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600.090,00€</a:t>
                      </a:r>
                      <a:endParaRPr b="1" sz="1300">
                        <a:solidFill>
                          <a:srgbClr val="60A5F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0:1"/>
                      </a:ext>
                    </a:extLst>
                  </a:tcPr>
                </a:tc>
              </a:tr>
              <a:tr h="228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>
                          <a:solidFill>
                            <a:schemeClr val="lt1"/>
                          </a:solidFill>
                        </a:rPr>
                        <a:t>24 Operaciones</a:t>
                      </a:r>
                      <a:endParaRPr sz="600">
                        <a:solidFill>
                          <a:schemeClr val="lt1"/>
                        </a:solidFill>
                      </a:endParaRPr>
                    </a:p>
                  </a:txBody>
                  <a:tcPr marT="0" marB="0" marR="28575" marL="28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1:1"/>
                      </a:ext>
                    </a:extLst>
                  </a:tcPr>
                </a:tc>
              </a:tr>
              <a:tr h="9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2:1"/>
                      </a:ext>
                    </a:extLst>
                  </a:tcPr>
                </a:tc>
              </a:tr>
              <a:tr h="18072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Victoria Kent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94.240,00 €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3:1"/>
                      </a:ext>
                    </a:extLst>
                  </a:tcPr>
                </a:tc>
              </a:tr>
              <a:tr h="18072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(8) operaciones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4:1"/>
                      </a:ext>
                    </a:extLst>
                  </a:tcPr>
                </a:tc>
              </a:tr>
              <a:tr h="18072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Urb Altos Sta Barbara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505.850,00 €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5:1"/>
                      </a:ext>
                    </a:extLst>
                  </a:tcPr>
                </a:tc>
              </a:tr>
              <a:tr h="18072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(16) operaciones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6:1"/>
                      </a:ext>
                    </a:extLst>
                  </a:tcPr>
                </a:tc>
              </a:tr>
              <a:tr h="16642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7:1"/>
                      </a:ext>
                    </a:extLst>
                  </a:tcPr>
                </a:tc>
              </a:tr>
              <a:tr h="16642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8:1"/>
                      </a:ext>
                    </a:extLst>
                  </a:tcPr>
                </a:tc>
              </a:tr>
              <a:tr h="16642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9:1"/>
                      </a:ext>
                    </a:extLst>
                  </a:tcPr>
                </a:tc>
              </a:tr>
              <a:tr h="16642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6:10:1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87" name="Google Shape;187;p5"/>
          <p:cNvGraphicFramePr/>
          <p:nvPr/>
        </p:nvGraphicFramePr>
        <p:xfrm>
          <a:off x="2642775" y="3391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{DF2EEAA6-D22F-434F-8FDD-EF5870F0F564}</a:tableStyleId>
              </a:tblPr>
              <a:tblGrid>
                <a:gridCol w="1096950"/>
                <a:gridCol w="695275"/>
              </a:tblGrid>
              <a:tr h="165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60A5F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5.340,00€</a:t>
                      </a:r>
                      <a:endParaRPr b="1" sz="1300">
                        <a:solidFill>
                          <a:srgbClr val="60A5F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0:1"/>
                      </a:ext>
                    </a:extLst>
                  </a:tcPr>
                </a:tc>
              </a:tr>
              <a:tr h="165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>
                          <a:solidFill>
                            <a:schemeClr val="lt1"/>
                          </a:solidFill>
                        </a:rPr>
                        <a:t>3 Operaciones</a:t>
                      </a:r>
                      <a:endParaRPr sz="600">
                        <a:solidFill>
                          <a:schemeClr val="lt1"/>
                        </a:solidFill>
                      </a:endParaRPr>
                    </a:p>
                  </a:txBody>
                  <a:tcPr marT="0" marB="0" marR="28575" marL="28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1:1"/>
                      </a:ext>
                    </a:extLst>
                  </a:tcPr>
                </a:tc>
              </a:tr>
              <a:tr h="8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2:1"/>
                      </a:ext>
                    </a:extLst>
                  </a:tcPr>
                </a:tc>
              </a:tr>
              <a:tr h="118350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Pintor Domingo 42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2.500,00 €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3:1"/>
                      </a:ext>
                    </a:extLst>
                  </a:tcPr>
                </a:tc>
              </a:tr>
              <a:tr h="118350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General San Martín 4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1.550,00 €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4:1"/>
                      </a:ext>
                    </a:extLst>
                  </a:tcPr>
                </a:tc>
              </a:tr>
              <a:tr h="118350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San Miguel 20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1.290,00 €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5:1"/>
                      </a:ext>
                    </a:extLst>
                  </a:tcPr>
                </a:tc>
              </a:tr>
              <a:tr h="118350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6:1"/>
                      </a:ext>
                    </a:extLst>
                  </a:tcPr>
                </a:tc>
              </a:tr>
              <a:tr h="118350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7:7:1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88" name="Google Shape;188;p5"/>
          <p:cNvGraphicFramePr/>
          <p:nvPr/>
        </p:nvGraphicFramePr>
        <p:xfrm>
          <a:off x="4814313" y="1149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{DF2EEAA6-D22F-434F-8FDD-EF5870F0F564}</a:tableStyleId>
              </a:tblPr>
              <a:tblGrid>
                <a:gridCol w="1096950"/>
                <a:gridCol w="695275"/>
              </a:tblGrid>
              <a:tr h="242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ACC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135.855,00€</a:t>
                      </a:r>
                      <a:endParaRPr b="1" sz="1300">
                        <a:solidFill>
                          <a:srgbClr val="FACC1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0:1"/>
                      </a:ext>
                    </a:extLst>
                  </a:tcPr>
                </a:tc>
              </a:tr>
              <a:tr h="225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>
                          <a:solidFill>
                            <a:schemeClr val="lt1"/>
                          </a:solidFill>
                        </a:rPr>
                        <a:t>9 Operaciones</a:t>
                      </a:r>
                      <a:endParaRPr sz="600">
                        <a:solidFill>
                          <a:schemeClr val="lt1"/>
                        </a:solidFill>
                      </a:endParaRPr>
                    </a:p>
                  </a:txBody>
                  <a:tcPr marT="0" marB="0" marR="28575" marL="28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:1"/>
                      </a:ext>
                    </a:extLst>
                  </a:tcPr>
                </a:tc>
              </a:tr>
              <a:tr h="9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2:1"/>
                      </a:ext>
                    </a:extLst>
                  </a:tcPr>
                </a:tc>
              </a:tr>
              <a:tr h="17717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Mercat 47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12.610,00 €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3:1"/>
                      </a:ext>
                    </a:extLst>
                  </a:tcPr>
                </a:tc>
              </a:tr>
              <a:tr h="17717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Mercat 47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12.545,00 €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4:1"/>
                      </a:ext>
                    </a:extLst>
                  </a:tcPr>
                </a:tc>
              </a:tr>
              <a:tr h="17717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Trinquet 89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13.450,00 €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5:1"/>
                      </a:ext>
                    </a:extLst>
                  </a:tcPr>
                </a:tc>
              </a:tr>
              <a:tr h="17717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Doctor Villena 20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13.650,00 €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6:1"/>
                      </a:ext>
                    </a:extLst>
                  </a:tcPr>
                </a:tc>
              </a:tr>
              <a:tr h="17717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 Llentiscle 1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20.400,00 €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7:1"/>
                      </a:ext>
                    </a:extLst>
                  </a:tcPr>
                </a:tc>
              </a:tr>
              <a:tr h="17717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Agulló 26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10.600,00 €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8:1"/>
                      </a:ext>
                    </a:extLst>
                  </a:tcPr>
                </a:tc>
              </a:tr>
              <a:tr h="17717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Mercat 47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10.100,00 €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9:1"/>
                      </a:ext>
                    </a:extLst>
                  </a:tcPr>
                </a:tc>
              </a:tr>
              <a:tr h="17717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Vidal de Canelles 9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5.000,00 €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0:1"/>
                      </a:ext>
                    </a:extLst>
                  </a:tcPr>
                </a:tc>
              </a:tr>
              <a:tr h="17717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Paseo Alameda 41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37.500,00 €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1:1"/>
                      </a:ext>
                    </a:extLst>
                  </a:tcPr>
                </a:tc>
              </a:tr>
              <a:tr h="164600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2:1"/>
                      </a:ext>
                    </a:extLst>
                  </a:tcPr>
                </a:tc>
              </a:tr>
              <a:tr h="164600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3:1"/>
                      </a:ext>
                    </a:extLst>
                  </a:tcPr>
                </a:tc>
              </a:tr>
              <a:tr h="164600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4:1"/>
                      </a:ext>
                    </a:extLst>
                  </a:tcPr>
                </a:tc>
              </a:tr>
              <a:tr h="164600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5:1"/>
                      </a:ext>
                    </a:extLst>
                  </a:tcPr>
                </a:tc>
              </a:tr>
              <a:tr h="164600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6:1"/>
                      </a:ext>
                    </a:extLst>
                  </a:tcPr>
                </a:tc>
              </a:tr>
              <a:tr h="164600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7:1"/>
                      </a:ext>
                    </a:extLst>
                  </a:tcPr>
                </a:tc>
              </a:tr>
              <a:tr h="164600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8:1"/>
                      </a:ext>
                    </a:extLst>
                  </a:tcPr>
                </a:tc>
              </a:tr>
              <a:tr h="164600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8:19:1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189" name="Google Shape;189;p5"/>
          <p:cNvGraphicFramePr/>
          <p:nvPr/>
        </p:nvGraphicFramePr>
        <p:xfrm>
          <a:off x="6903700" y="1149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{DF2EEAA6-D22F-434F-8FDD-EF5870F0F564}</a:tableStyleId>
              </a:tblPr>
              <a:tblGrid>
                <a:gridCol w="1300300"/>
                <a:gridCol w="565100"/>
              </a:tblGrid>
              <a:tr h="23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199.602,40€</a:t>
                      </a:r>
                      <a:endParaRPr b="1" sz="1300">
                        <a:solidFill>
                          <a:srgbClr val="4ADE8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0:1"/>
                      </a:ext>
                    </a:extLst>
                  </a:tcPr>
                </a:tc>
              </a:tr>
              <a:tr h="22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>
                          <a:solidFill>
                            <a:schemeClr val="lt1"/>
                          </a:solidFill>
                        </a:rPr>
                        <a:t>17 Operaciones</a:t>
                      </a:r>
                      <a:endParaRPr sz="600">
                        <a:solidFill>
                          <a:schemeClr val="lt1"/>
                        </a:solidFill>
                      </a:endParaRPr>
                    </a:p>
                  </a:txBody>
                  <a:tcPr marT="0" marB="0" marR="28575" marL="28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:1"/>
                      </a:ext>
                    </a:extLst>
                  </a:tcPr>
                </a:tc>
              </a:tr>
              <a:tr h="6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2:1"/>
                      </a:ext>
                    </a:extLst>
                  </a:tcPr>
                </a:tc>
              </a:tr>
              <a:tr h="16942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Marques Zenete 27, 2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2.456,94 €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3:1"/>
                      </a:ext>
                    </a:extLst>
                  </a:tcPr>
                </a:tc>
              </a:tr>
              <a:tr h="16942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Santa Barbara 138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33.000,00 €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4:1"/>
                      </a:ext>
                    </a:extLst>
                  </a:tcPr>
                </a:tc>
              </a:tr>
              <a:tr h="16942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General Elio 4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12.500,00 €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5:1"/>
                      </a:ext>
                    </a:extLst>
                  </a:tcPr>
                </a:tc>
              </a:tr>
              <a:tr h="16942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Altos de Santa Barbara 25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11.250,00 €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6:1"/>
                      </a:ext>
                    </a:extLst>
                  </a:tcPr>
                </a:tc>
              </a:tr>
              <a:tr h="16942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Altos de Santa Bárbara 31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7.500,00 €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7:1"/>
                      </a:ext>
                    </a:extLst>
                  </a:tcPr>
                </a:tc>
              </a:tr>
              <a:tr h="16942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Altos de Santa Barbara 29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15.000,00 €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8:1"/>
                      </a:ext>
                    </a:extLst>
                  </a:tcPr>
                </a:tc>
              </a:tr>
              <a:tr h="16942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Bombero Ramón Duart 15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8.264,46 €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9:1"/>
                      </a:ext>
                    </a:extLst>
                  </a:tcPr>
                </a:tc>
              </a:tr>
              <a:tr h="16942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Fontanares 11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5.241,00 €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0:1"/>
                      </a:ext>
                    </a:extLst>
                  </a:tcPr>
                </a:tc>
              </a:tr>
              <a:tr h="169425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Urb. Altos de Santa Bárbara 39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7.500,00 €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1:1"/>
                      </a:ext>
                    </a:extLst>
                  </a:tcPr>
                </a:tc>
              </a:tr>
              <a:tr h="169425">
                <a:tc>
                  <a:txBody>
                    <a:bodyPr/>
                    <a:lstStyle/>
                    <a:p>
                      <a:pPr indent="9144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Urb. Altos de Santa Bárbara 10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21.600,00 €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64000" marB="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2:1"/>
                      </a:ext>
                    </a:extLst>
                  </a:tcPr>
                </a:tc>
              </a:tr>
              <a:tr h="169425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Del foc 3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7.500,00 €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3:1"/>
                      </a:ext>
                    </a:extLst>
                  </a:tcPr>
                </a:tc>
              </a:tr>
              <a:tr h="169425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Ravanell 1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10.800,00 €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4:1"/>
                      </a:ext>
                    </a:extLst>
                  </a:tcPr>
                </a:tc>
              </a:tr>
              <a:tr h="169425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Valencians 6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9.000,00 €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5:1"/>
                      </a:ext>
                    </a:extLst>
                  </a:tcPr>
                </a:tc>
              </a:tr>
              <a:tr h="169425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Piñoner 3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22.250,00 €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6:1"/>
                      </a:ext>
                    </a:extLst>
                  </a:tcPr>
                </a:tc>
              </a:tr>
              <a:tr h="169425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Naturalista Rafael Cisternas 2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11.800,00 €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7:1"/>
                      </a:ext>
                    </a:extLst>
                  </a:tcPr>
                </a:tc>
              </a:tr>
              <a:tr h="169425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C. Jaume Roig 19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9.800,00 €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8:1"/>
                      </a:ext>
                    </a:extLst>
                  </a:tcPr>
                </a:tc>
              </a:tr>
              <a:tr h="169425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chemeClr val="lt1"/>
                          </a:solidFill>
                        </a:rPr>
                        <a:t>Maestro Anastasio Garcia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600">
                          <a:solidFill>
                            <a:srgbClr val="C9A84C"/>
                          </a:solidFill>
                        </a:rPr>
                        <a:t>4.140 €</a:t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19:1"/>
                      </a:ext>
                    </a:extLst>
                  </a:tcPr>
                </a:tc>
              </a:tr>
              <a:tr h="155950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2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rgbClr val="C9A84C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89:20:1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566e6d624_0_0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d566e6d624_0_0"/>
          <p:cNvSpPr/>
          <p:nvPr/>
        </p:nvSpPr>
        <p:spPr>
          <a:xfrm>
            <a:off x="457200" y="365760"/>
            <a:ext cx="1725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ACTIVIDAD COMERCIAL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d566e6d624_0_0"/>
          <p:cNvSpPr/>
          <p:nvPr/>
        </p:nvSpPr>
        <p:spPr>
          <a:xfrm>
            <a:off x="457200" y="548640"/>
            <a:ext cx="713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CALENDARIO DE LIQUIDEZ: PIPELINE E </a:t>
            </a:r>
            <a:r>
              <a:rPr b="1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IMPORTES</a:t>
            </a: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PENDIENTES</a:t>
            </a: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DE COBRO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d566e6d624_0_0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INFORME CEO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d566e6d624_0_0"/>
          <p:cNvSpPr/>
          <p:nvPr/>
        </p:nvSpPr>
        <p:spPr>
          <a:xfrm>
            <a:off x="457203" y="13716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Aunque contamos con un pipeline sólido de </a:t>
            </a: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1.084.994,40€</a:t>
            </a: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es vital ajustar las previsiones de tesorería: el </a:t>
            </a: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58,16</a:t>
            </a: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% de nuestra cartera corresponde a ingresos diferidos (Q3 y 2027)."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9" name="Google Shape;199;g3d566e6d624_0_0"/>
          <p:cNvSpPr/>
          <p:nvPr/>
        </p:nvSpPr>
        <p:spPr>
          <a:xfrm>
            <a:off x="5943600" y="1051560"/>
            <a:ext cx="2743200" cy="11886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d566e6d624_0_0"/>
          <p:cNvSpPr/>
          <p:nvPr/>
        </p:nvSpPr>
        <p:spPr>
          <a:xfrm>
            <a:off x="6126480" y="1188720"/>
            <a:ext cx="2011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Liquidez real esperada a CORTO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d566e6d624_0_0"/>
          <p:cNvSpPr/>
          <p:nvPr/>
        </p:nvSpPr>
        <p:spPr>
          <a:xfrm>
            <a:off x="6126480" y="1417320"/>
            <a:ext cx="2377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Operaciones pendientes de firma y arras condicionadas. </a:t>
            </a:r>
            <a:b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Acción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Foco absoluto del equipo administrativo y notarial para cerrar estos cobros en Q2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d566e6d624_0_0"/>
          <p:cNvSpPr/>
          <p:nvPr/>
        </p:nvSpPr>
        <p:spPr>
          <a:xfrm>
            <a:off x="5943625" y="2377440"/>
            <a:ext cx="2743200" cy="11886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d566e6d624_0_0"/>
          <p:cNvSpPr/>
          <p:nvPr/>
        </p:nvSpPr>
        <p:spPr>
          <a:xfrm>
            <a:off x="6126505" y="2514600"/>
            <a:ext cx="2011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Liquidez real esperada a MEDIO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d566e6d624_0_0"/>
          <p:cNvSpPr/>
          <p:nvPr/>
        </p:nvSpPr>
        <p:spPr>
          <a:xfrm>
            <a:off x="6126505" y="2743200"/>
            <a:ext cx="2377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Operaciones reservadas  pero sin impacto en caja hasta verano (proyectos de obra nueva). </a:t>
            </a:r>
            <a:b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Acción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Ingresos asegurados para el Q3, pero no computables para la tesorería actual.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d566e6d624_0_0"/>
          <p:cNvSpPr/>
          <p:nvPr/>
        </p:nvSpPr>
        <p:spPr>
          <a:xfrm>
            <a:off x="5943650" y="3703320"/>
            <a:ext cx="2743200" cy="11886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d566e6d624_0_0"/>
          <p:cNvSpPr/>
          <p:nvPr/>
        </p:nvSpPr>
        <p:spPr>
          <a:xfrm>
            <a:off x="6126530" y="3840480"/>
            <a:ext cx="2011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Liquidez real esperada a LARGO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d566e6d624_0_0"/>
          <p:cNvSpPr/>
          <p:nvPr/>
        </p:nvSpPr>
        <p:spPr>
          <a:xfrm>
            <a:off x="6126530" y="4069080"/>
            <a:ext cx="2377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Ingreso diferido a 2027 por la operación de la Calle Santa Bárbara.</a:t>
            </a:r>
            <a:b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Acción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Excluir de las previsiones operativas de 2026.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g3d566e6d624_0_0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8" y="1867492"/>
            <a:ext cx="5050701" cy="3123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4" name="Google Shape;2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6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457200" y="365760"/>
            <a:ext cx="3059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CUENTA DE RESULTADOS: OPERATIVA VS. REAL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57200" y="550075"/>
            <a:ext cx="405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ANÁLISIS DE RENTABILIDAD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INFORME CEO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57200" y="1280160"/>
            <a:ext cx="3929100" cy="3474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642957" y="1463040"/>
            <a:ext cx="2076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RENTABILIDAD OPERATIVA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642964" y="1920240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Ingresos Totales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3474720" y="192024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423.399,70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640110" y="2148840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(-) Coste Asesores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3347976" y="2148850"/>
            <a:ext cx="767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-1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64.479,44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640110" y="2925128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(-) Gastos Fijos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3347725" y="2925125"/>
            <a:ext cx="767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120.327,33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640110" y="3153728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(-) Gastos Variables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3380124" y="3153725"/>
            <a:ext cx="734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7.319,00 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642983" y="3382328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(-) Costes Programadores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3380123" y="3382325"/>
            <a:ext cx="734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3.972,73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642957" y="3977640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RESULTADO OPERATIVO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640075" y="4206250"/>
            <a:ext cx="255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nter"/>
              <a:buNone/>
            </a:pPr>
            <a:r>
              <a:rPr b="1" lang="en-US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127.301,20</a:t>
            </a:r>
            <a:r>
              <a:rPr b="1" i="0" lang="en-US" sz="2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3319818" y="4295780"/>
            <a:ext cx="82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30,07</a:t>
            </a:r>
            <a:r>
              <a:rPr b="1" i="0" lang="en-US" sz="12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%</a:t>
            </a:r>
            <a:endParaRPr b="0" i="0" sz="1200" u="none" cap="none" strike="noStrike">
              <a:solidFill>
                <a:srgbClr val="4ADE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4754880" y="1280160"/>
            <a:ext cx="3929100" cy="3474600"/>
          </a:xfrm>
          <a:prstGeom prst="rect">
            <a:avLst/>
          </a:prstGeom>
          <a:solidFill>
            <a:srgbClr val="0B1F4B">
              <a:alpha val="0"/>
            </a:srgbClr>
          </a:solidFill>
          <a:ln cap="flat" cmpd="sng" w="1827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4937760" y="1732359"/>
            <a:ext cx="3566100" cy="7200"/>
          </a:xfrm>
          <a:prstGeom prst="rect">
            <a:avLst/>
          </a:prstGeom>
          <a:solidFill>
            <a:srgbClr val="EFE5C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4937760" y="1463040"/>
            <a:ext cx="1646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RENTABILIDAD REAL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7" name="Google Shape;23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65331" y="1417320"/>
            <a:ext cx="135731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6"/>
          <p:cNvSpPr/>
          <p:nvPr/>
        </p:nvSpPr>
        <p:spPr>
          <a:xfrm>
            <a:off x="4937760" y="1920240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Ingresos Totales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7645500" y="1903800"/>
            <a:ext cx="767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423.399,70</a:t>
            </a: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937760" y="2148840"/>
            <a:ext cx="1524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(-) Gastos Operativos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7677900" y="2148850"/>
            <a:ext cx="734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296.098,50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4983480" y="2560320"/>
            <a:ext cx="3474600" cy="1188600"/>
          </a:xfrm>
          <a:prstGeom prst="rect">
            <a:avLst/>
          </a:prstGeom>
          <a:solidFill>
            <a:srgbClr val="F87171">
              <a:alpha val="10196"/>
            </a:srgbClr>
          </a:solidFill>
          <a:ln cap="flat" cmpd="sng" w="9525">
            <a:solidFill>
              <a:srgbClr val="F8717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5166360" y="2651760"/>
            <a:ext cx="1072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(-) GASTOS EXTRA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7575901" y="2651750"/>
            <a:ext cx="69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48.614,58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5257800" y="2880360"/>
            <a:ext cx="3141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lang="en-US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Sueldos + Seg. Social (Comisiones Variables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)	     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23.729,15 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€</a:t>
            </a:r>
            <a:endParaRPr b="0" i="0" sz="7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Reparaciones/Arrendamientos/Viajes		     -18.295,82 €</a:t>
            </a:r>
            <a:endParaRPr sz="7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Sueldos (Finiquitos Marketing)			   </a:t>
            </a:r>
            <a:r>
              <a:rPr lang="en-US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-3.994,50 €</a:t>
            </a:r>
            <a:endParaRPr sz="7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Otros					    </a:t>
            </a:r>
            <a:r>
              <a:rPr lang="en-US" sz="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-2.595,11 €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					</a:t>
            </a:r>
            <a:endParaRPr b="0" i="0" sz="7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4937760" y="3843338"/>
            <a:ext cx="3566100" cy="14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4937760" y="3977640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RESULTADO NETO FINAL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4937749" y="4206250"/>
            <a:ext cx="213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2800"/>
              <a:buFont typeface="Inter"/>
              <a:buNone/>
            </a:pPr>
            <a:r>
              <a:rPr b="1" lang="en-US" sz="28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78.686,62</a:t>
            </a:r>
            <a:r>
              <a:rPr b="1" i="0" lang="en-US" sz="2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800" u="none" cap="none" strike="noStrike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7575909" y="4295780"/>
            <a:ext cx="82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18,58</a:t>
            </a:r>
            <a:r>
              <a:rPr b="1" i="0" lang="en-US" sz="12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1200" u="none" cap="none" strike="noStrike">
              <a:solidFill>
                <a:srgbClr val="4ADE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548640" y="2377440"/>
            <a:ext cx="3657600" cy="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642957" y="2468880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RESULTADO OPERATIVO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3380126" y="2468875"/>
            <a:ext cx="734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258.920,26</a:t>
            </a: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8" name="Google Shape;2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7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57200" y="365760"/>
            <a:ext cx="3287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ANÁLISIS DE BREAK EVEN Y OBJETIVOS DE MARGEN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457200" y="550075"/>
            <a:ext cx="731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OBJETIVOS DE FACTURACIÓN: ESCENARIOS DE RENTABILIDAD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INFORME CEO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457200" y="1554480"/>
            <a:ext cx="3964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ESCENARIO OPERATIVO (SIN EXTRAS)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457200" y="1100763"/>
            <a:ext cx="8229600" cy="366000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4750594" y="1554480"/>
            <a:ext cx="3964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ESCENARIO REAL (CON EXTRAS)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457200" y="3741800"/>
            <a:ext cx="8258100" cy="1296900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Tanto el escenario operativo como el </a:t>
            </a: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escenario</a:t>
            </a: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real </a:t>
            </a: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muestran</a:t>
            </a: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que la sede de Valencia ha </a:t>
            </a: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alcanzado</a:t>
            </a: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el Break Even. El escenario operativo roza la excelencia aunque el escenario real no se alcanza el margen </a:t>
            </a: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objetivo</a:t>
            </a: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del 20%. Esto se debe principalmente a un importante incremento en los gastos extra actividad como son la reforma de una vivienda y un arrendamiento puntual y gastos por viajes.</a:t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t/>
            </a:r>
            <a:endParaRPr sz="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Respecto a los </a:t>
            </a: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ingresos, tenemos 455.944,40€ en operaciones en pipeline que esperamos cobrar a corto plazo. Aquí incluimos los 144.107€ de arras pendientes, 135.855€ de arras condicionadas, 5.340€ por alquileres y 170.642,40€ de importes pendientes de cobro a corto plazo. Además contamos con 600.090€ por arras de obra nueva  y 33.750€ por importes pendientes de cobro en 2027.</a:t>
            </a:r>
            <a:endParaRPr b="0" i="0" sz="9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267" name="Google Shape;267;p7"/>
          <p:cNvGraphicFramePr/>
          <p:nvPr/>
        </p:nvGraphicFramePr>
        <p:xfrm>
          <a:off x="2486475" y="117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{DF2EEAA6-D22F-434F-8FDD-EF5870F0F564}</a:tableStyleId>
              </a:tblPr>
              <a:tblGrid>
                <a:gridCol w="2305050"/>
                <a:gridCol w="952500"/>
              </a:tblGrid>
              <a:tr h="209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Ingresos Obtenidos Abril:</a:t>
                      </a:r>
                      <a:endParaRPr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7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423.400 €</a:t>
                      </a:r>
                      <a:endParaRPr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7:0:1"/>
                      </a:ext>
                    </a:extLst>
                  </a:tcPr>
                </a:tc>
              </a:tr>
            </a:tbl>
          </a:graphicData>
        </a:graphic>
      </p:graphicFrame>
      <p:graphicFrame>
        <p:nvGraphicFramePr>
          <p:cNvPr id="268" name="Google Shape;268;p7"/>
          <p:cNvGraphicFramePr/>
          <p:nvPr/>
        </p:nvGraphicFramePr>
        <p:xfrm>
          <a:off x="487438" y="1994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{DF2EEAA6-D22F-434F-8FDD-EF5870F0F564}</a:tableStyleId>
              </a:tblPr>
              <a:tblGrid>
                <a:gridCol w="1040875"/>
                <a:gridCol w="1497775"/>
                <a:gridCol w="595575"/>
                <a:gridCol w="624175"/>
                <a:gridCol w="535000"/>
                <a:gridCol w="1013975"/>
                <a:gridCol w="1338500"/>
                <a:gridCol w="605825"/>
                <a:gridCol w="688825"/>
              </a:tblGrid>
              <a:tr h="286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ESCENARIO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FACTURACIÓN NECESARIA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0:1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ESTADO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0:2"/>
                      </a:ext>
                    </a:extLst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ESCENARIO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FACTURACIÓN NECESARIA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0:6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ESTADO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0:7"/>
                      </a:ext>
                    </a:extLst>
                  </a:tcPr>
                </a:tc>
                <a:tc hMerge="1"/>
              </a:tr>
              <a:tr h="292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 Even (0%)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234.451,57 €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1:1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 SUPERADO</a:t>
                      </a:r>
                      <a:endParaRPr sz="700">
                        <a:solidFill>
                          <a:srgbClr val="4ADE8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1:2"/>
                      </a:ext>
                    </a:extLst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 Even (0%)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316.199,36 €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1:6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 SUPERADO</a:t>
                      </a:r>
                      <a:endParaRPr sz="700">
                        <a:solidFill>
                          <a:srgbClr val="4ADE8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1:7"/>
                      </a:ext>
                    </a:extLst>
                  </a:tcPr>
                </a:tc>
                <a:tc hMerge="1"/>
              </a:tr>
              <a:tr h="292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10%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284.334,88 €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2:1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 SUPERADO</a:t>
                      </a:r>
                      <a:endParaRPr b="1" sz="700">
                        <a:solidFill>
                          <a:srgbClr val="4ADE8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2:2"/>
                      </a:ext>
                    </a:extLst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10%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383.475,82 €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2:6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 SUPERADO</a:t>
                      </a:r>
                      <a:endParaRPr b="1" sz="700">
                        <a:solidFill>
                          <a:srgbClr val="4ADE8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2:7"/>
                      </a:ext>
                    </a:extLst>
                  </a:tcPr>
                </a:tc>
                <a:tc hMerge="1"/>
              </a:tr>
              <a:tr h="292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20%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361.182,15 €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3:1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 SUPERADO</a:t>
                      </a:r>
                      <a:endParaRPr b="1" sz="700">
                        <a:solidFill>
                          <a:srgbClr val="4ADE8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3:2"/>
                      </a:ext>
                    </a:extLst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20%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487.117,93 €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FALTAN:</a:t>
                      </a:r>
                      <a:endParaRPr b="1"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63.718,23 €</a:t>
                      </a:r>
                      <a:endParaRPr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3:8"/>
                      </a:ext>
                    </a:extLst>
                  </a:tcPr>
                </a:tc>
              </a:tr>
              <a:tr h="292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30%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494.953,31 €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FALTAN:</a:t>
                      </a:r>
                      <a:endParaRPr b="1"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71.553,61 €</a:t>
                      </a:r>
                      <a:endParaRPr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30%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667.531,98 €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FALTAN:</a:t>
                      </a:r>
                      <a:endParaRPr b="1"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244.132,28 €</a:t>
                      </a:r>
                      <a:endParaRPr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4:8"/>
                      </a:ext>
                    </a:extLst>
                  </a:tcPr>
                </a:tc>
              </a:tr>
              <a:tr h="292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40%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786.102,32 €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FALTAN:</a:t>
                      </a:r>
                      <a:endParaRPr b="1"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362.702,62 €</a:t>
                      </a:r>
                      <a:endParaRPr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40%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1.060.197,85 €</a:t>
                      </a:r>
                      <a:endParaRPr b="1"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FALTAN:</a:t>
                      </a:r>
                      <a:endParaRPr b="1"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636.798,15 €</a:t>
                      </a:r>
                      <a:endParaRPr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5:8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57200" y="365760"/>
            <a:ext cx="5193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584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OBJETIVOS FINANCIEROS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457200" y="548640"/>
            <a:ext cx="740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4"/>
              <a:buFont typeface="Inter"/>
              <a:buNone/>
            </a:pPr>
            <a:r>
              <a:rPr b="1" i="0" lang="en-US" sz="150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ESTIMACIÓN DE BREAK EVEN Y OBJETIVOS DE FACTURACIÓN PARA </a:t>
            </a:r>
            <a:r>
              <a:rPr b="1" lang="en-US" sz="150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MAYO</a:t>
            </a:r>
            <a:endParaRPr b="0" i="0" sz="150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INFORME CEO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548640" y="1236345"/>
            <a:ext cx="1645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OBJETIVO</a:t>
            </a:r>
            <a:endParaRPr b="0" i="0" sz="900" u="none" cap="none" strike="noStrike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2194560" y="1236345"/>
            <a:ext cx="1645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FACTURACIÓN NECESARIA</a:t>
            </a:r>
            <a:endParaRPr b="0" i="0" sz="900" u="none" cap="none" strike="noStrike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3840480" y="1236345"/>
            <a:ext cx="1645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NIVEL DE EXITO</a:t>
            </a:r>
            <a:endParaRPr b="0" i="0" sz="900" u="none" cap="none" strike="noStrike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548640" y="1556385"/>
            <a:ext cx="151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Break Even (0%)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2651760" y="1556385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239.186</a:t>
            </a: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548640" y="1967865"/>
            <a:ext cx="151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Margen 10%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2651760" y="1967865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290.076</a:t>
            </a: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548640" y="2379345"/>
            <a:ext cx="151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Margen 20%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2651760" y="2379345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368.476</a:t>
            </a: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5878818" y="2439948"/>
            <a:ext cx="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548640" y="2790825"/>
            <a:ext cx="945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Margen 30%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2651760" y="2790825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504.948</a:t>
            </a: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7206258" y="4330898"/>
            <a:ext cx="65" cy="26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2"/>
              <a:buFont typeface="Calibri"/>
              <a:buNone/>
            </a:pPr>
            <a:r>
              <a:t/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4572000" y="1556385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SUPERVIVENCIA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4572000" y="1967865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OBJETIVO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4572000" y="2379345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ÓPTIMO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4572000" y="2790825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EXCELENCIA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8"/>
          <p:cNvCxnSpPr/>
          <p:nvPr/>
        </p:nvCxnSpPr>
        <p:spPr>
          <a:xfrm flipH="1" rot="10800000">
            <a:off x="455347" y="1510665"/>
            <a:ext cx="5120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8"/>
          <p:cNvCxnSpPr/>
          <p:nvPr/>
        </p:nvCxnSpPr>
        <p:spPr>
          <a:xfrm flipH="1" rot="10800000">
            <a:off x="455347" y="1922145"/>
            <a:ext cx="5120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7" name="Google Shape;297;p8"/>
          <p:cNvCxnSpPr/>
          <p:nvPr/>
        </p:nvCxnSpPr>
        <p:spPr>
          <a:xfrm flipH="1" rot="10800000">
            <a:off x="455347" y="2333625"/>
            <a:ext cx="5120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8" name="Google Shape;298;p8"/>
          <p:cNvCxnSpPr/>
          <p:nvPr/>
        </p:nvCxnSpPr>
        <p:spPr>
          <a:xfrm flipH="1" rot="10800000">
            <a:off x="455347" y="2745105"/>
            <a:ext cx="5120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99" name="Google Shape;299;p8"/>
          <p:cNvSpPr/>
          <p:nvPr/>
        </p:nvSpPr>
        <p:spPr>
          <a:xfrm>
            <a:off x="457200" y="3444385"/>
            <a:ext cx="8229600" cy="1371600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EL CAMINO HACIA EL 20% ESTÁ EN EL PIPELINE ACTUAL</a:t>
            </a:r>
            <a:endParaRPr b="1" i="0" sz="1000" u="none" cap="none" strike="noStrike">
              <a:solidFill>
                <a:srgbClr val="C9A84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Para alcanzar el objetivo de rentabilidad (20%), necesitamos facturar 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368.476 €</a:t>
            </a:r>
            <a:r>
              <a:rPr b="0" i="0" lang="en-US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b="0" i="0" sz="1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800"/>
              </a:spcBef>
              <a:spcAft>
                <a:spcPts val="100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Conclusión</a:t>
            </a:r>
            <a:r>
              <a:rPr b="0" i="0" lang="en-US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: El éxito de 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mayo </a:t>
            </a:r>
            <a:r>
              <a:rPr b="0" i="0" lang="en-US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depende de la agilidad administrativa para convertir las operaciones ya captadas en cierres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y seguir con la operativa que estamos llevando.</a:t>
            </a:r>
            <a:endParaRPr b="0" i="0" sz="10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5943600" y="1097275"/>
            <a:ext cx="2743200" cy="2259600"/>
          </a:xfrm>
          <a:prstGeom prst="rect">
            <a:avLst/>
          </a:prstGeom>
          <a:noFill/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182875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▲ ESCENARIOS </a:t>
            </a:r>
            <a:r>
              <a:rPr b="1" lang="en-US" sz="12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MAYO</a:t>
            </a:r>
            <a:endParaRPr b="1" i="0" sz="1200" u="none" cap="none" strike="noStrike">
              <a:solidFill>
                <a:srgbClr val="C9A84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No se prevén incrementos en los gastos fijos significativos.</a:t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Esperamos un incremento en las ventas por facturas pendientes de cobro y nuevas captaciones de clientes.</a:t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t/>
            </a:r>
            <a:endParaRPr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t/>
            </a:r>
            <a:endParaRPr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t/>
            </a:r>
            <a:endParaRPr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t/>
            </a:r>
            <a:endParaRPr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"/>
          <p:cNvSpPr/>
          <p:nvPr/>
        </p:nvSpPr>
        <p:spPr>
          <a:xfrm>
            <a:off x="457200" y="1234440"/>
            <a:ext cx="3200400" cy="35205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7" name="Google Shape;3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9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457200" y="365760"/>
            <a:ext cx="17925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PLAN DE ACCIÓN MENSUAL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457200" y="550074"/>
            <a:ext cx="5838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SEMÁFORO ESTRATÉGICO Y PRIORIDADES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7413725" y="705454"/>
            <a:ext cx="13017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ABRIL</a:t>
            </a: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642938" y="1417320"/>
            <a:ext cx="1467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INDICADORES CLAVE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822965" y="1874520"/>
            <a:ext cx="1835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Crecimiento Comercial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822962" y="2029968"/>
            <a:ext cx="17400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Señales 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-7,63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%, Arras 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+32,42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822966" y="2331720"/>
            <a:ext cx="1621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Calidad de Venta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822960" y="2487168"/>
            <a:ext cx="2669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Ticket medio vs 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mes 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anterior 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-5.03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% (1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4.646,26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822969" y="2788920"/>
            <a:ext cx="1954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Eficiencia en Gasto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822975" y="2944375"/>
            <a:ext cx="24600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Costes Fijos y Extra incrementados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822967" y="3246120"/>
            <a:ext cx="1621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Rentabilidad Real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822963" y="3401568"/>
            <a:ext cx="2094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18,58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% 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(por debajo del 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objetivo 20%)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822969" y="3703320"/>
            <a:ext cx="17925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Riesgo Operativo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822963" y="3858768"/>
            <a:ext cx="2255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operaciones condicionadas (1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35,85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 €)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3840480" y="1234440"/>
            <a:ext cx="2423100" cy="15087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4023360" y="1508760"/>
            <a:ext cx="17925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ACELERACIÓN DE COBROS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023360" y="1737360"/>
            <a:ext cx="2057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Gestionar la entrada en caja de los cobros pendientes para maximizar la posición de tesorería a corto plazo y asegurar la liquidez del negocio.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6537368" y="1234440"/>
            <a:ext cx="2194500" cy="15087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6720840" y="1508760"/>
            <a:ext cx="18735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BLINDAJE DE CONDICIONADAS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6729920" y="1737360"/>
            <a:ext cx="18288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Establecer seguimiento semanal de las </a:t>
            </a:r>
            <a:r>
              <a:rPr b="1"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arras con cláusulas (1</a:t>
            </a:r>
            <a:r>
              <a:rPr b="1"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35.855</a:t>
            </a: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€)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 Riesgo alto de caída si no se gestionan los plazos activamente.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3840480" y="2926080"/>
            <a:ext cx="2423100" cy="18288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4023360" y="2834640"/>
            <a:ext cx="411600" cy="228600"/>
          </a:xfrm>
          <a:prstGeom prst="rect">
            <a:avLst/>
          </a:prstGeom>
          <a:solidFill>
            <a:srgbClr val="0B1F4B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4023360" y="3200400"/>
            <a:ext cx="1740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CONVERSIÓN DEL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023360" y="3429000"/>
            <a:ext cx="2057400" cy="12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Tramitar y asegurar las firmas con impacto inmediato en caja. Dado que la bolsa de obra nueva (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600.090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€) supone ingresos diferidos a Q3, el foco administrativo notarial de este mes debe ser puramente la cartera de corto plazo.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6537960" y="2926080"/>
            <a:ext cx="2192400" cy="18288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6720840" y="3200400"/>
            <a:ext cx="18351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CONTROL DEL GASTO OPERATIVO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6720840" y="3429000"/>
            <a:ext cx="1828800" cy="11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Auditar rigurosamente las partidas de gasto extra de abril (reformas y viajes) para garantizar que son desviaciones estrictamente puntuales y no recurrentes.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6720860" y="2834640"/>
            <a:ext cx="411600" cy="228600"/>
          </a:xfrm>
          <a:prstGeom prst="rect">
            <a:avLst/>
          </a:prstGeom>
          <a:solidFill>
            <a:srgbClr val="0B1F4B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6720860" y="1143000"/>
            <a:ext cx="411600" cy="228600"/>
          </a:xfrm>
          <a:prstGeom prst="rect">
            <a:avLst/>
          </a:prstGeom>
          <a:solidFill>
            <a:srgbClr val="0B1F4B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4023360" y="1140103"/>
            <a:ext cx="411600" cy="228600"/>
          </a:xfrm>
          <a:prstGeom prst="rect">
            <a:avLst/>
          </a:prstGeom>
          <a:solidFill>
            <a:srgbClr val="0B1F4B"/>
          </a:solidFill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642950" y="1933900"/>
            <a:ext cx="109800" cy="109800"/>
          </a:xfrm>
          <a:prstGeom prst="ellipse">
            <a:avLst/>
          </a:prstGeom>
          <a:solidFill>
            <a:srgbClr val="4ADE80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642950" y="2377275"/>
            <a:ext cx="109800" cy="109800"/>
          </a:xfrm>
          <a:prstGeom prst="ellipse">
            <a:avLst/>
          </a:prstGeom>
          <a:solidFill>
            <a:srgbClr val="4ADE80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642950" y="2834650"/>
            <a:ext cx="109800" cy="1098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642950" y="3292025"/>
            <a:ext cx="109800" cy="1098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642950" y="3749400"/>
            <a:ext cx="109800" cy="109800"/>
          </a:xfrm>
          <a:prstGeom prst="ellipse">
            <a:avLst/>
          </a:prstGeom>
          <a:solidFill>
            <a:srgbClr val="F87171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2026-03-12T14:39:49Z</dcterms:created>
  <dc:creator>PptxGenJS</dc:creator>
</cp:coreProperties>
</file>